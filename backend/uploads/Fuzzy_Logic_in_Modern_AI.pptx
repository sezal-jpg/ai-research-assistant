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F4368"/>
                </a:solidFill>
                <a:latin typeface="Calibri"/>
              </a:defRPr>
            </a:pPr>
            <a:r>
              <a:rPr lang="en-US" sz="1800" b="0" i="0" u="none" strike="noStrike" dirty="0">
                <a:solidFill>
                  <a:srgbClr val="2F4368"/>
                </a:solidFill>
                <a:latin typeface="Calibri"/>
              </a:rPr>
              <a:t>Membership functions for room temperature (°C)</a:t>
            </a:r>
          </a:p>
        </c:rich>
      </c:tx>
      <c:overlay val="0"/>
    </c:title>
    <c:autoTitleDeleted val="0"/>
    <c:plotArea>
      <c:layout/>
      <c:lineChart>
        <c:grouping val="standard"/>
        <c:varyColors val="0"/>
        <c:ser>
          <c:idx val="0"/>
          <c:order val="0"/>
          <c:tx>
            <c:strRef>
              <c:f>Sheet1!$B$1</c:f>
              <c:strCache>
                <c:ptCount val="1"/>
                <c:pt idx="0">
                  <c:v>Cool</c:v>
                </c:pt>
              </c:strCache>
            </c:strRef>
          </c:tx>
          <c:spPr>
            <a:ln w="38100" cap="flat">
              <a:solidFill>
                <a:srgbClr val="2E9E8F"/>
              </a:solidFill>
              <a:prstDash val="solid"/>
              <a:round/>
            </a:ln>
            <a:effectLst/>
          </c:spPr>
          <c:marker>
            <c:symbol val="none"/>
          </c:marker>
          <c:cat>
            <c:strRef>
              <c:f>Sheet1!$A$2:$A$22</c:f>
              <c:strCache>
                <c:ptCount val="21"/>
                <c:pt idx="0">
                  <c:v>15</c:v>
                </c:pt>
                <c:pt idx="1">
                  <c:v>  </c:v>
                </c:pt>
                <c:pt idx="2">
                  <c:v>   </c:v>
                </c:pt>
                <c:pt idx="3">
                  <c:v>    </c:v>
                </c:pt>
                <c:pt idx="4">
                  <c:v>     </c:v>
                </c:pt>
                <c:pt idx="5">
                  <c:v>20</c:v>
                </c:pt>
                <c:pt idx="6">
                  <c:v>       </c:v>
                </c:pt>
                <c:pt idx="7">
                  <c:v>        </c:v>
                </c:pt>
                <c:pt idx="8">
                  <c:v>         </c:v>
                </c:pt>
                <c:pt idx="9">
                  <c:v>          </c:v>
                </c:pt>
                <c:pt idx="10">
                  <c:v>25</c:v>
                </c:pt>
                <c:pt idx="11">
                  <c:v>            </c:v>
                </c:pt>
                <c:pt idx="12">
                  <c:v>             </c:v>
                </c:pt>
                <c:pt idx="13">
                  <c:v>              </c:v>
                </c:pt>
                <c:pt idx="14">
                  <c:v>               </c:v>
                </c:pt>
                <c:pt idx="15">
                  <c:v>30</c:v>
                </c:pt>
                <c:pt idx="16">
                  <c:v>                 </c:v>
                </c:pt>
                <c:pt idx="17">
                  <c:v>                  </c:v>
                </c:pt>
                <c:pt idx="18">
                  <c:v>                   </c:v>
                </c:pt>
                <c:pt idx="19">
                  <c:v>                    </c:v>
                </c:pt>
                <c:pt idx="20">
                  <c:v>35</c:v>
                </c:pt>
              </c:strCache>
            </c:strRef>
          </c:cat>
          <c:val>
            <c:numRef>
              <c:f>Sheet1!$B$2:$B$22</c:f>
              <c:numCache>
                <c:formatCode>General</c:formatCode>
                <c:ptCount val="21"/>
                <c:pt idx="0">
                  <c:v>0</c:v>
                </c:pt>
                <c:pt idx="1">
                  <c:v>0.2</c:v>
                </c:pt>
                <c:pt idx="2">
                  <c:v>0.4</c:v>
                </c:pt>
                <c:pt idx="3">
                  <c:v>0.6</c:v>
                </c:pt>
                <c:pt idx="4">
                  <c:v>0.8</c:v>
                </c:pt>
                <c:pt idx="5">
                  <c:v>1</c:v>
                </c:pt>
                <c:pt idx="6">
                  <c:v>0.8</c:v>
                </c:pt>
                <c:pt idx="7">
                  <c:v>0.6</c:v>
                </c:pt>
                <c:pt idx="8">
                  <c:v>0.4</c:v>
                </c:pt>
                <c:pt idx="9">
                  <c:v>0.2</c:v>
                </c:pt>
                <c:pt idx="10">
                  <c:v>0</c:v>
                </c:pt>
                <c:pt idx="11">
                  <c:v>0</c:v>
                </c:pt>
                <c:pt idx="12">
                  <c:v>0</c:v>
                </c:pt>
                <c:pt idx="13">
                  <c:v>0</c:v>
                </c:pt>
                <c:pt idx="14">
                  <c:v>0</c:v>
                </c:pt>
                <c:pt idx="15">
                  <c:v>0</c:v>
                </c:pt>
                <c:pt idx="16">
                  <c:v>0</c:v>
                </c:pt>
                <c:pt idx="17">
                  <c:v>0</c:v>
                </c:pt>
                <c:pt idx="18">
                  <c:v>0</c:v>
                </c:pt>
                <c:pt idx="19">
                  <c:v>0</c:v>
                </c:pt>
                <c:pt idx="20">
                  <c:v>0</c:v>
                </c:pt>
              </c:numCache>
            </c:numRef>
          </c:val>
          <c:smooth val="0"/>
          <c:extLst>
            <c:ext xmlns:c16="http://schemas.microsoft.com/office/drawing/2014/chart" uri="{C3380CC4-5D6E-409C-BE32-E72D297353CC}">
              <c16:uniqueId val="{00000000-4029-4E02-9E6E-24E005E40DCB}"/>
            </c:ext>
          </c:extLst>
        </c:ser>
        <c:ser>
          <c:idx val="1"/>
          <c:order val="1"/>
          <c:tx>
            <c:strRef>
              <c:f>Sheet1!$C$1</c:f>
              <c:strCache>
                <c:ptCount val="1"/>
                <c:pt idx="0">
                  <c:v>Warm</c:v>
                </c:pt>
              </c:strCache>
            </c:strRef>
          </c:tx>
          <c:spPr>
            <a:ln w="38100" cap="flat">
              <a:solidFill>
                <a:srgbClr val="E3963E"/>
              </a:solidFill>
              <a:prstDash val="solid"/>
              <a:round/>
            </a:ln>
            <a:effectLst/>
          </c:spPr>
          <c:marker>
            <c:symbol val="none"/>
          </c:marker>
          <c:cat>
            <c:strRef>
              <c:f>Sheet1!$A$2:$A$22</c:f>
              <c:strCache>
                <c:ptCount val="21"/>
                <c:pt idx="0">
                  <c:v>15</c:v>
                </c:pt>
                <c:pt idx="1">
                  <c:v>  </c:v>
                </c:pt>
                <c:pt idx="2">
                  <c:v>   </c:v>
                </c:pt>
                <c:pt idx="3">
                  <c:v>    </c:v>
                </c:pt>
                <c:pt idx="4">
                  <c:v>     </c:v>
                </c:pt>
                <c:pt idx="5">
                  <c:v>20</c:v>
                </c:pt>
                <c:pt idx="6">
                  <c:v>       </c:v>
                </c:pt>
                <c:pt idx="7">
                  <c:v>        </c:v>
                </c:pt>
                <c:pt idx="8">
                  <c:v>         </c:v>
                </c:pt>
                <c:pt idx="9">
                  <c:v>          </c:v>
                </c:pt>
                <c:pt idx="10">
                  <c:v>25</c:v>
                </c:pt>
                <c:pt idx="11">
                  <c:v>            </c:v>
                </c:pt>
                <c:pt idx="12">
                  <c:v>             </c:v>
                </c:pt>
                <c:pt idx="13">
                  <c:v>              </c:v>
                </c:pt>
                <c:pt idx="14">
                  <c:v>               </c:v>
                </c:pt>
                <c:pt idx="15">
                  <c:v>30</c:v>
                </c:pt>
                <c:pt idx="16">
                  <c:v>                 </c:v>
                </c:pt>
                <c:pt idx="17">
                  <c:v>                  </c:v>
                </c:pt>
                <c:pt idx="18">
                  <c:v>                   </c:v>
                </c:pt>
                <c:pt idx="19">
                  <c:v>                    </c:v>
                </c:pt>
                <c:pt idx="20">
                  <c:v>35</c:v>
                </c:pt>
              </c:strCache>
            </c:strRef>
          </c:cat>
          <c:val>
            <c:numRef>
              <c:f>Sheet1!$C$2:$C$22</c:f>
              <c:numCache>
                <c:formatCode>General</c:formatCode>
                <c:ptCount val="21"/>
                <c:pt idx="0">
                  <c:v>0</c:v>
                </c:pt>
                <c:pt idx="1">
                  <c:v>0</c:v>
                </c:pt>
                <c:pt idx="2">
                  <c:v>0</c:v>
                </c:pt>
                <c:pt idx="3">
                  <c:v>0</c:v>
                </c:pt>
                <c:pt idx="4">
                  <c:v>0</c:v>
                </c:pt>
                <c:pt idx="5">
                  <c:v>0</c:v>
                </c:pt>
                <c:pt idx="6">
                  <c:v>0.2</c:v>
                </c:pt>
                <c:pt idx="7">
                  <c:v>0.4</c:v>
                </c:pt>
                <c:pt idx="8">
                  <c:v>0.6</c:v>
                </c:pt>
                <c:pt idx="9">
                  <c:v>0.8</c:v>
                </c:pt>
                <c:pt idx="10">
                  <c:v>1</c:v>
                </c:pt>
                <c:pt idx="11">
                  <c:v>0.8</c:v>
                </c:pt>
                <c:pt idx="12">
                  <c:v>0.6</c:v>
                </c:pt>
                <c:pt idx="13">
                  <c:v>0.4</c:v>
                </c:pt>
                <c:pt idx="14">
                  <c:v>0.2</c:v>
                </c:pt>
                <c:pt idx="15">
                  <c:v>0</c:v>
                </c:pt>
                <c:pt idx="16">
                  <c:v>0</c:v>
                </c:pt>
                <c:pt idx="17">
                  <c:v>0</c:v>
                </c:pt>
                <c:pt idx="18">
                  <c:v>0</c:v>
                </c:pt>
                <c:pt idx="19">
                  <c:v>0</c:v>
                </c:pt>
                <c:pt idx="20">
                  <c:v>0</c:v>
                </c:pt>
              </c:numCache>
            </c:numRef>
          </c:val>
          <c:smooth val="0"/>
          <c:extLst>
            <c:ext xmlns:c16="http://schemas.microsoft.com/office/drawing/2014/chart" uri="{C3380CC4-5D6E-409C-BE32-E72D297353CC}">
              <c16:uniqueId val="{00000001-4029-4E02-9E6E-24E005E40DCB}"/>
            </c:ext>
          </c:extLst>
        </c:ser>
        <c:ser>
          <c:idx val="2"/>
          <c:order val="2"/>
          <c:tx>
            <c:strRef>
              <c:f>Sheet1!$D$1</c:f>
              <c:strCache>
                <c:ptCount val="1"/>
                <c:pt idx="0">
                  <c:v>Hot</c:v>
                </c:pt>
              </c:strCache>
            </c:strRef>
          </c:tx>
          <c:spPr>
            <a:ln w="38100" cap="flat">
              <a:solidFill>
                <a:srgbClr val="C05A5A"/>
              </a:solidFill>
              <a:prstDash val="solid"/>
              <a:round/>
            </a:ln>
            <a:effectLst/>
          </c:spPr>
          <c:marker>
            <c:symbol val="none"/>
          </c:marker>
          <c:cat>
            <c:strRef>
              <c:f>Sheet1!$A$2:$A$22</c:f>
              <c:strCache>
                <c:ptCount val="21"/>
                <c:pt idx="0">
                  <c:v>15</c:v>
                </c:pt>
                <c:pt idx="1">
                  <c:v>  </c:v>
                </c:pt>
                <c:pt idx="2">
                  <c:v>   </c:v>
                </c:pt>
                <c:pt idx="3">
                  <c:v>    </c:v>
                </c:pt>
                <c:pt idx="4">
                  <c:v>     </c:v>
                </c:pt>
                <c:pt idx="5">
                  <c:v>20</c:v>
                </c:pt>
                <c:pt idx="6">
                  <c:v>       </c:v>
                </c:pt>
                <c:pt idx="7">
                  <c:v>        </c:v>
                </c:pt>
                <c:pt idx="8">
                  <c:v>         </c:v>
                </c:pt>
                <c:pt idx="9">
                  <c:v>          </c:v>
                </c:pt>
                <c:pt idx="10">
                  <c:v>25</c:v>
                </c:pt>
                <c:pt idx="11">
                  <c:v>            </c:v>
                </c:pt>
                <c:pt idx="12">
                  <c:v>             </c:v>
                </c:pt>
                <c:pt idx="13">
                  <c:v>              </c:v>
                </c:pt>
                <c:pt idx="14">
                  <c:v>               </c:v>
                </c:pt>
                <c:pt idx="15">
                  <c:v>30</c:v>
                </c:pt>
                <c:pt idx="16">
                  <c:v>                 </c:v>
                </c:pt>
                <c:pt idx="17">
                  <c:v>                  </c:v>
                </c:pt>
                <c:pt idx="18">
                  <c:v>                   </c:v>
                </c:pt>
                <c:pt idx="19">
                  <c:v>                    </c:v>
                </c:pt>
                <c:pt idx="20">
                  <c:v>35</c:v>
                </c:pt>
              </c:strCache>
            </c:strRef>
          </c:cat>
          <c:val>
            <c:numRef>
              <c:f>Sheet1!$D$2:$D$22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0.2</c:v>
                </c:pt>
                <c:pt idx="12">
                  <c:v>0.4</c:v>
                </c:pt>
                <c:pt idx="13">
                  <c:v>0.6</c:v>
                </c:pt>
                <c:pt idx="14">
                  <c:v>0.8</c:v>
                </c:pt>
                <c:pt idx="15">
                  <c:v>1</c:v>
                </c:pt>
                <c:pt idx="16">
                  <c:v>0.8</c:v>
                </c:pt>
                <c:pt idx="17">
                  <c:v>0.6</c:v>
                </c:pt>
                <c:pt idx="18">
                  <c:v>0.4</c:v>
                </c:pt>
                <c:pt idx="19">
                  <c:v>0.2</c:v>
                </c:pt>
                <c:pt idx="20">
                  <c:v>0</c:v>
                </c:pt>
              </c:numCache>
            </c:numRef>
          </c:val>
          <c:smooth val="0"/>
          <c:extLst>
            <c:ext xmlns:c16="http://schemas.microsoft.com/office/drawing/2014/chart" uri="{C3380CC4-5D6E-409C-BE32-E72D297353CC}">
              <c16:uniqueId val="{00000002-4029-4E02-9E6E-24E005E40DCB}"/>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99"/>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E6EAF3"/>
              </a:solidFill>
              <a:prstDash val="solid"/>
              <a:round/>
            </a:ln>
          </c:spPr>
        </c:majorGridlines>
        <c:title>
          <c:tx>
            <c:rich>
              <a:bodyPr/>
              <a:lstStyle/>
              <a:p>
                <a:pPr>
                  <a:defRPr sz="1100" b="0" i="0" u="none" strike="noStrike">
                    <a:solidFill>
                      <a:srgbClr val="6B7A99"/>
                    </a:solidFill>
                    <a:latin typeface="Arial"/>
                  </a:defRPr>
                </a:pPr>
                <a:r>
                  <a:rPr lang="en-IN" sz="1800" b="0" i="0" u="none" strike="noStrike" dirty="0">
                    <a:solidFill>
                      <a:srgbClr val="6B7A99"/>
                    </a:solidFill>
                    <a:latin typeface="Arial"/>
                  </a:rPr>
                  <a:t>degree of membership </a:t>
                </a:r>
                <a:r>
                  <a:rPr lang="el-GR" sz="1800" b="0" i="0" u="none" strike="noStrike" dirty="0">
                    <a:solidFill>
                      <a:srgbClr val="6B7A99"/>
                    </a:solidFill>
                    <a:latin typeface="Arial"/>
                  </a:rPr>
                  <a:t>μ</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99"/>
                </a:solidFill>
                <a:latin typeface="Calibri"/>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B243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2F4368"/>
                </a:solidFill>
                <a:latin typeface="Calibri"/>
              </a:defRPr>
            </a:pPr>
            <a:r>
              <a:rPr lang="en-US" sz="1600" b="0" i="0" u="none" strike="noStrike" dirty="0">
                <a:solidFill>
                  <a:srgbClr val="2F4368"/>
                </a:solidFill>
                <a:latin typeface="Calibri"/>
              </a:rPr>
              <a:t>How strongly each rule pulls the output</a:t>
            </a:r>
          </a:p>
        </c:rich>
      </c:tx>
      <c:overlay val="0"/>
    </c:title>
    <c:autoTitleDeleted val="0"/>
    <c:plotArea>
      <c:layout/>
      <c:barChart>
        <c:barDir val="bar"/>
        <c:grouping val="clustered"/>
        <c:varyColors val="0"/>
        <c:ser>
          <c:idx val="0"/>
          <c:order val="0"/>
          <c:tx>
            <c:strRef>
              <c:f>Sheet1!$B$1</c:f>
              <c:strCache>
                <c:ptCount val="1"/>
                <c:pt idx="0">
                  <c:v>firing strength</c:v>
                </c:pt>
              </c:strCache>
            </c:strRef>
          </c:tx>
          <c:spPr>
            <a:solidFill>
              <a:srgbClr val="2F4368"/>
            </a:solidFill>
            <a:effectLst/>
          </c:spPr>
          <c:invertIfNegative val="0"/>
          <c:dLbls>
            <c:numFmt formatCode="0.0" sourceLinked="0"/>
            <c:spPr>
              <a:noFill/>
              <a:ln>
                <a:noFill/>
              </a:ln>
              <a:effectLst/>
            </c:spPr>
            <c:txPr>
              <a:bodyPr/>
              <a:lstStyle/>
              <a:p>
                <a:pPr>
                  <a:defRPr sz="1100" b="0" i="0" u="none" strike="noStrike">
                    <a:solidFill>
                      <a:srgbClr val="1B24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R4 → Max 100%</c:v>
                </c:pt>
                <c:pt idx="1">
                  <c:v>R3 → High 85%</c:v>
                </c:pt>
                <c:pt idx="2">
                  <c:v>R2 → High 85%</c:v>
                </c:pt>
                <c:pt idx="3">
                  <c:v>R1 → Med 55%</c:v>
                </c:pt>
              </c:strCache>
            </c:strRef>
          </c:cat>
          <c:val>
            <c:numRef>
              <c:f>Sheet1!$B$2:$B$5</c:f>
              <c:numCache>
                <c:formatCode>General</c:formatCode>
                <c:ptCount val="4"/>
                <c:pt idx="0">
                  <c:v>0.4</c:v>
                </c:pt>
                <c:pt idx="1">
                  <c:v>0.4</c:v>
                </c:pt>
                <c:pt idx="2">
                  <c:v>0.6</c:v>
                </c:pt>
                <c:pt idx="3">
                  <c:v>0.4</c:v>
                </c:pt>
              </c:numCache>
            </c:numRef>
          </c:val>
          <c:extLst>
            <c:ext xmlns:c16="http://schemas.microsoft.com/office/drawing/2014/chart" uri="{C3380CC4-5D6E-409C-BE32-E72D297353CC}">
              <c16:uniqueId val="{00000000-0E79-4226-A274-FC3B0905E6C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7"/>
                </a:solidFill>
                <a:latin typeface="Calibri"/>
              </a:defRPr>
            </a:pPr>
            <a:endParaRPr lang="en-US"/>
          </a:p>
        </c:txPr>
        <c:crossAx val="2094734552"/>
        <c:crosses val="autoZero"/>
        <c:auto val="1"/>
        <c:lblAlgn val="ctr"/>
        <c:lblOffset val="100"/>
        <c:noMultiLvlLbl val="1"/>
      </c:catAx>
      <c:valAx>
        <c:axId val="2094734552"/>
        <c:scaling>
          <c:orientation val="minMax"/>
          <c:max val="0.8"/>
          <c:min val="0"/>
        </c:scaling>
        <c:delete val="0"/>
        <c:axPos val="b"/>
        <c:majorGridlines>
          <c:spPr>
            <a:ln w="12700" cap="flat">
              <a:solidFill>
                <a:srgbClr val="EAEEF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A99"/>
                </a:solidFill>
                <a:latin typeface="Calibri"/>
              </a:defRPr>
            </a:pPr>
            <a:endParaRPr lang="en-US"/>
          </a:p>
        </c:txPr>
        <c:crossAx val="2094734554"/>
        <c:crosses val="autoZero"/>
        <c:crossBetween val="between"/>
        <c:majorUnit val="0.2"/>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4406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the class a question: 'Is 27 degrees hot?' Some will say yes, some no. That disagreement is exactly the gap fuzzy logic fills. Boolean logic forces a yes/no answer; fuzzy logic lets 27 be 0.4 hot and 0.6 warm at the same time. Zadeh proposed this in 1965; Mamdani built the first working controller in 1974; today it survives inside hybrid AI systems.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chart. Walk a finger up from 27 on the x-axis: it crosses Warm at 0.6 and Hot at 0.4. Compare with the crisp rule on the left, where 27.9 and 28.1 get opposite answers even though a thermometer cannot reliably tell them apart. That instability is the practical reason controllers went fuzzy. Note memberships are NOT probabilities: 0.4 hot does not mean a 40 percent chance it is hot, it means it is partially hot.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pipeline left to right with the same example you will solve on the next two slides. Stress the middle: the rule base is plain language an engineer or doctor can read and argue with. That is the whole selling point. The honest cost is the third note at the bottom - somebody has to write and tune those rules, which is exactly what machine learning automates.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on the board with them, do not just read it. Ask the class to compute mu_Hot(27) themselves before revealing it. The key conceptual moment is in the amber box: in Boolean logic exactly one rule would match; here all four are partially true simultaneously, and that is what makes the final output smooth instead of jumping in steps.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punchline is continuity: change the input slightly and the output changes slightly. Ask the class what a thermostat with a crisp 28-degree threshold would do at 27.9 versus 28.1 - it slams between off and full, which wears the compressor out. Mention that this whole controller needed four rules and zero training data, then ask how many labelled examples a neural network would need to learn the same surface. That question sets up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as a competition. Read the first row aloud and let the rest follow from it - every other difference is downstream of where the knowledge comes from. The row on transparency is the one worth dwelling on: in a certifiable system (medical device, lift controller, braking system) an auditor can read a fuzzy rule base, and cannot read a 50-million-parameter network.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the title question. Fuzzy logic did not lose to neural networks; it moved inside them. ANFIS is the clearest case - the same five-stage pipeline from slide 3, but now written as differentiable layers so the membership function shapes are learned rather than guessed. If asked for one sentence: fuzzy logic supplies the structure and the vocabulary, learning supplies the parameters.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opening question. Nobody can define 'hot' with a number, yet the washing machine in their house makes that judgement every wash. Invite questions on the boundary case: when would you choose fuzzy over a small neural network? Answer: when you have no data, when the rules must be inspected, or when the hardware is too small to run a network.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2F"/>
        </a:solidFill>
        <a:effectLst/>
      </p:bgPr>
    </p:bg>
    <p:spTree>
      <p:nvGrpSpPr>
        <p:cNvPr id="1" name=""/>
        <p:cNvGrpSpPr/>
        <p:nvPr/>
      </p:nvGrpSpPr>
      <p:grpSpPr>
        <a:xfrm>
          <a:off x="0" y="0"/>
          <a:ext cx="0" cy="0"/>
          <a:chOff x="0" y="0"/>
          <a:chExt cx="0" cy="0"/>
        </a:xfrm>
      </p:grpSpPr>
      <p:sp>
        <p:nvSpPr>
          <p:cNvPr id="2" name="Shape 0"/>
          <p:cNvSpPr/>
          <p:nvPr/>
        </p:nvSpPr>
        <p:spPr>
          <a:xfrm>
            <a:off x="8641080" y="1417320"/>
            <a:ext cx="868680" cy="868680"/>
          </a:xfrm>
          <a:prstGeom prst="ellipse">
            <a:avLst/>
          </a:prstGeom>
          <a:solidFill>
            <a:srgbClr val="E3963E">
              <a:alpha val="28000"/>
            </a:srgbClr>
          </a:solidFill>
          <a:ln/>
        </p:spPr>
      </p:sp>
      <p:sp>
        <p:nvSpPr>
          <p:cNvPr id="3" name="Shape 1"/>
          <p:cNvSpPr/>
          <p:nvPr/>
        </p:nvSpPr>
        <p:spPr>
          <a:xfrm>
            <a:off x="9692640" y="1417320"/>
            <a:ext cx="868680" cy="868680"/>
          </a:xfrm>
          <a:prstGeom prst="ellipse">
            <a:avLst/>
          </a:prstGeom>
          <a:solidFill>
            <a:srgbClr val="E3963E">
              <a:alpha val="41000"/>
            </a:srgbClr>
          </a:solidFill>
          <a:ln/>
        </p:spPr>
      </p:sp>
      <p:sp>
        <p:nvSpPr>
          <p:cNvPr id="4" name="Shape 2"/>
          <p:cNvSpPr/>
          <p:nvPr/>
        </p:nvSpPr>
        <p:spPr>
          <a:xfrm>
            <a:off x="10744200" y="1417320"/>
            <a:ext cx="868680" cy="868680"/>
          </a:xfrm>
          <a:prstGeom prst="ellipse">
            <a:avLst/>
          </a:prstGeom>
          <a:solidFill>
            <a:srgbClr val="E3963E">
              <a:alpha val="57000"/>
            </a:srgbClr>
          </a:solidFill>
          <a:ln/>
        </p:spPr>
      </p:sp>
      <p:sp>
        <p:nvSpPr>
          <p:cNvPr id="5" name="Shape 3"/>
          <p:cNvSpPr/>
          <p:nvPr/>
        </p:nvSpPr>
        <p:spPr>
          <a:xfrm>
            <a:off x="8641080" y="2468880"/>
            <a:ext cx="868680" cy="868680"/>
          </a:xfrm>
          <a:prstGeom prst="ellipse">
            <a:avLst/>
          </a:prstGeom>
          <a:solidFill>
            <a:srgbClr val="E3963E">
              <a:alpha val="74000"/>
            </a:srgbClr>
          </a:solidFill>
          <a:ln/>
        </p:spPr>
      </p:sp>
      <p:sp>
        <p:nvSpPr>
          <p:cNvPr id="6" name="Shape 4"/>
          <p:cNvSpPr/>
          <p:nvPr/>
        </p:nvSpPr>
        <p:spPr>
          <a:xfrm>
            <a:off x="9692640" y="2468880"/>
            <a:ext cx="868680" cy="868680"/>
          </a:xfrm>
          <a:prstGeom prst="ellipse">
            <a:avLst/>
          </a:prstGeom>
          <a:solidFill>
            <a:srgbClr val="E3963E">
              <a:alpha val="92000"/>
            </a:srgbClr>
          </a:solidFill>
          <a:ln/>
        </p:spPr>
      </p:sp>
      <p:sp>
        <p:nvSpPr>
          <p:cNvPr id="7" name="Shape 5"/>
          <p:cNvSpPr/>
          <p:nvPr/>
        </p:nvSpPr>
        <p:spPr>
          <a:xfrm>
            <a:off x="10744200" y="2468880"/>
            <a:ext cx="868680" cy="868680"/>
          </a:xfrm>
          <a:prstGeom prst="ellipse">
            <a:avLst/>
          </a:prstGeom>
          <a:solidFill>
            <a:srgbClr val="E3963E"/>
          </a:solidFill>
          <a:ln/>
        </p:spPr>
      </p:sp>
      <p:sp>
        <p:nvSpPr>
          <p:cNvPr id="8" name="Text 6"/>
          <p:cNvSpPr txBox="1"/>
          <p:nvPr/>
        </p:nvSpPr>
        <p:spPr>
          <a:xfrm>
            <a:off x="8503920" y="3611880"/>
            <a:ext cx="3200400" cy="274320"/>
          </a:xfrm>
          <a:prstGeom prst="rect">
            <a:avLst/>
          </a:prstGeom>
          <a:noFill/>
          <a:ln/>
        </p:spPr>
        <p:txBody>
          <a:bodyPr wrap="square" lIns="0" tIns="0" rIns="0" bIns="0" rtlCol="0" anchor="ctr"/>
          <a:lstStyle/>
          <a:p>
            <a:pPr marL="0" indent="0">
              <a:buNone/>
            </a:pPr>
            <a:r>
              <a:rPr lang="en-US" sz="2000" i="1" dirty="0">
                <a:solidFill>
                  <a:srgbClr val="8FA0C0"/>
                </a:solidFill>
                <a:latin typeface="Calibri" pitchFamily="34" charset="0"/>
                <a:ea typeface="Calibri" pitchFamily="34" charset="-122"/>
                <a:cs typeface="Calibri" pitchFamily="34" charset="-120"/>
              </a:rPr>
              <a:t>degrees of truth, not 0 or 1</a:t>
            </a:r>
            <a:endParaRPr lang="en-US" sz="2000" dirty="0"/>
          </a:p>
        </p:txBody>
      </p:sp>
      <p:sp>
        <p:nvSpPr>
          <p:cNvPr id="10" name="Text 8"/>
          <p:cNvSpPr txBox="1"/>
          <p:nvPr/>
        </p:nvSpPr>
        <p:spPr>
          <a:xfrm>
            <a:off x="731520" y="850952"/>
            <a:ext cx="758952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Fuzzy Logic in Modern AI</a:t>
            </a:r>
            <a:endParaRPr lang="en-US" sz="4400" dirty="0"/>
          </a:p>
        </p:txBody>
      </p:sp>
      <p:sp>
        <p:nvSpPr>
          <p:cNvPr id="11" name="Text 9"/>
          <p:cNvSpPr txBox="1"/>
          <p:nvPr/>
        </p:nvSpPr>
        <p:spPr>
          <a:xfrm>
            <a:off x="731520" y="1582472"/>
            <a:ext cx="7498080" cy="731520"/>
          </a:xfrm>
          <a:prstGeom prst="rect">
            <a:avLst/>
          </a:prstGeom>
          <a:noFill/>
          <a:ln/>
        </p:spPr>
        <p:txBody>
          <a:bodyPr wrap="square" lIns="0" tIns="0" rIns="0" bIns="0" rtlCol="0" anchor="ctr"/>
          <a:lstStyle/>
          <a:p>
            <a:pPr marL="0" indent="0">
              <a:buNone/>
            </a:pPr>
            <a:r>
              <a:rPr lang="en-US" sz="2000" i="1" dirty="0">
                <a:solidFill>
                  <a:srgbClr val="C6D2EA"/>
                </a:solidFill>
                <a:latin typeface="Cambria" pitchFamily="34" charset="0"/>
                <a:ea typeface="Cambria" pitchFamily="34" charset="-122"/>
                <a:cs typeface="Cambria" pitchFamily="34" charset="-120"/>
              </a:rPr>
              <a:t>Where it fits alongside Machine Learning and Neural Networks</a:t>
            </a:r>
            <a:endParaRPr lang="en-US" sz="2000" dirty="0"/>
          </a:p>
        </p:txBody>
      </p:sp>
      <p:sp>
        <p:nvSpPr>
          <p:cNvPr id="12" name="Shape 10"/>
          <p:cNvSpPr/>
          <p:nvPr/>
        </p:nvSpPr>
        <p:spPr>
          <a:xfrm>
            <a:off x="731520" y="2896689"/>
            <a:ext cx="2926080" cy="0"/>
          </a:xfrm>
          <a:prstGeom prst="line">
            <a:avLst/>
          </a:prstGeom>
          <a:noFill/>
          <a:ln w="31750">
            <a:solidFill>
              <a:srgbClr val="E3963E"/>
            </a:solidFill>
            <a:prstDash val="solid"/>
          </a:ln>
        </p:spPr>
      </p:sp>
      <p:sp>
        <p:nvSpPr>
          <p:cNvPr id="13" name="Text 11"/>
          <p:cNvSpPr txBox="1"/>
          <p:nvPr/>
        </p:nvSpPr>
        <p:spPr>
          <a:xfrm>
            <a:off x="731520" y="3429000"/>
            <a:ext cx="2468880" cy="365760"/>
          </a:xfrm>
          <a:prstGeom prst="rect">
            <a:avLst/>
          </a:prstGeom>
          <a:noFill/>
          <a:ln/>
        </p:spPr>
        <p:txBody>
          <a:bodyPr wrap="square" lIns="0" tIns="0" rIns="0" bIns="0" rtlCol="0" anchor="ctr"/>
          <a:lstStyle/>
          <a:p>
            <a:pPr marL="0" indent="0">
              <a:buNone/>
            </a:pPr>
            <a:r>
              <a:rPr lang="en-US" sz="2200" b="1" dirty="0">
                <a:solidFill>
                  <a:srgbClr val="E3963E"/>
                </a:solidFill>
                <a:latin typeface="Cambria" pitchFamily="34" charset="0"/>
                <a:ea typeface="Cambria" pitchFamily="34" charset="-122"/>
                <a:cs typeface="Cambria" pitchFamily="34" charset="-120"/>
              </a:rPr>
              <a:t>1965</a:t>
            </a:r>
            <a:endParaRPr lang="en-US" sz="2200" dirty="0"/>
          </a:p>
        </p:txBody>
      </p:sp>
      <p:sp>
        <p:nvSpPr>
          <p:cNvPr id="14" name="Text 12"/>
          <p:cNvSpPr txBox="1"/>
          <p:nvPr/>
        </p:nvSpPr>
        <p:spPr>
          <a:xfrm>
            <a:off x="731520" y="3955060"/>
            <a:ext cx="2468880" cy="731520"/>
          </a:xfrm>
          <a:prstGeom prst="rect">
            <a:avLst/>
          </a:prstGeom>
          <a:noFill/>
          <a:ln/>
        </p:spPr>
        <p:txBody>
          <a:bodyPr wrap="square" lIns="0" tIns="0" rIns="0" bIns="0" rtlCol="0" anchor="ctr"/>
          <a:lstStyle/>
          <a:p>
            <a:pPr marL="0" indent="0">
              <a:lnSpc>
                <a:spcPts val="1600"/>
              </a:lnSpc>
              <a:buNone/>
            </a:pPr>
            <a:r>
              <a:rPr lang="en-US" dirty="0">
                <a:solidFill>
                  <a:srgbClr val="AEBCD6"/>
                </a:solidFill>
                <a:latin typeface="Calibri" pitchFamily="34" charset="0"/>
                <a:ea typeface="Calibri" pitchFamily="34" charset="-122"/>
                <a:cs typeface="Calibri" pitchFamily="34" charset="-120"/>
              </a:rPr>
              <a:t>Lotfi Zadeh publishes</a:t>
            </a:r>
            <a:endParaRPr lang="en-US" dirty="0"/>
          </a:p>
          <a:p>
            <a:pPr marL="0" indent="0">
              <a:lnSpc>
                <a:spcPts val="1600"/>
              </a:lnSpc>
              <a:buNone/>
            </a:pPr>
            <a:r>
              <a:rPr lang="en-US" dirty="0">
                <a:solidFill>
                  <a:srgbClr val="AEBCD6"/>
                </a:solidFill>
                <a:latin typeface="Calibri" pitchFamily="34" charset="0"/>
                <a:ea typeface="Calibri" pitchFamily="34" charset="-122"/>
                <a:cs typeface="Calibri" pitchFamily="34" charset="-120"/>
              </a:rPr>
              <a:t>“Fuzzy Sets”</a:t>
            </a:r>
            <a:endParaRPr lang="en-US" dirty="0"/>
          </a:p>
        </p:txBody>
      </p:sp>
      <p:sp>
        <p:nvSpPr>
          <p:cNvPr id="15" name="Text 13"/>
          <p:cNvSpPr txBox="1"/>
          <p:nvPr/>
        </p:nvSpPr>
        <p:spPr>
          <a:xfrm>
            <a:off x="3474720" y="3429000"/>
            <a:ext cx="2468880" cy="365760"/>
          </a:xfrm>
          <a:prstGeom prst="rect">
            <a:avLst/>
          </a:prstGeom>
          <a:noFill/>
          <a:ln/>
        </p:spPr>
        <p:txBody>
          <a:bodyPr wrap="square" lIns="0" tIns="0" rIns="0" bIns="0" rtlCol="0" anchor="ctr"/>
          <a:lstStyle/>
          <a:p>
            <a:pPr marL="0" indent="0">
              <a:buNone/>
            </a:pPr>
            <a:r>
              <a:rPr lang="en-US" sz="2200" b="1" dirty="0">
                <a:solidFill>
                  <a:srgbClr val="E3963E"/>
                </a:solidFill>
                <a:latin typeface="Cambria" pitchFamily="34" charset="0"/>
                <a:ea typeface="Cambria" pitchFamily="34" charset="-122"/>
                <a:cs typeface="Cambria" pitchFamily="34" charset="-120"/>
              </a:rPr>
              <a:t>1974</a:t>
            </a:r>
            <a:endParaRPr lang="en-US" sz="2200" dirty="0"/>
          </a:p>
        </p:txBody>
      </p:sp>
      <p:sp>
        <p:nvSpPr>
          <p:cNvPr id="16" name="Text 14"/>
          <p:cNvSpPr txBox="1"/>
          <p:nvPr/>
        </p:nvSpPr>
        <p:spPr>
          <a:xfrm>
            <a:off x="3474719" y="3971017"/>
            <a:ext cx="2366243" cy="731520"/>
          </a:xfrm>
          <a:prstGeom prst="rect">
            <a:avLst/>
          </a:prstGeom>
          <a:noFill/>
          <a:ln/>
        </p:spPr>
        <p:txBody>
          <a:bodyPr wrap="square" lIns="0" tIns="0" rIns="0" bIns="0" rtlCol="0" anchor="ctr"/>
          <a:lstStyle/>
          <a:p>
            <a:pPr marL="0" indent="0">
              <a:lnSpc>
                <a:spcPts val="1600"/>
              </a:lnSpc>
              <a:buNone/>
            </a:pPr>
            <a:r>
              <a:rPr lang="en-US" dirty="0">
                <a:solidFill>
                  <a:srgbClr val="AEBCD6"/>
                </a:solidFill>
                <a:latin typeface="Calibri" pitchFamily="34" charset="0"/>
                <a:ea typeface="Calibri" pitchFamily="34" charset="-122"/>
                <a:cs typeface="Calibri" pitchFamily="34" charset="-120"/>
              </a:rPr>
              <a:t>First fuzzy controller</a:t>
            </a:r>
            <a:endParaRPr lang="en-US" dirty="0"/>
          </a:p>
          <a:p>
            <a:pPr marL="0" indent="0">
              <a:lnSpc>
                <a:spcPts val="1600"/>
              </a:lnSpc>
              <a:buNone/>
            </a:pPr>
            <a:r>
              <a:rPr lang="en-US" dirty="0">
                <a:solidFill>
                  <a:srgbClr val="AEBCD6"/>
                </a:solidFill>
                <a:latin typeface="Calibri" pitchFamily="34" charset="0"/>
                <a:ea typeface="Calibri" pitchFamily="34" charset="-122"/>
                <a:cs typeface="Calibri" pitchFamily="34" charset="-120"/>
              </a:rPr>
              <a:t>(steam engine, Mamdani</a:t>
            </a:r>
            <a:r>
              <a:rPr lang="en-US" sz="1200" dirty="0">
                <a:solidFill>
                  <a:srgbClr val="AEBCD6"/>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6096000" y="3424335"/>
            <a:ext cx="2468880" cy="365760"/>
          </a:xfrm>
          <a:prstGeom prst="rect">
            <a:avLst/>
          </a:prstGeom>
          <a:noFill/>
          <a:ln/>
        </p:spPr>
        <p:txBody>
          <a:bodyPr wrap="square" lIns="0" tIns="0" rIns="0" bIns="0" rtlCol="0" anchor="ctr"/>
          <a:lstStyle/>
          <a:p>
            <a:pPr marL="0" indent="0">
              <a:buNone/>
            </a:pPr>
            <a:r>
              <a:rPr lang="en-US" sz="2200" b="1" dirty="0">
                <a:solidFill>
                  <a:srgbClr val="E3963E"/>
                </a:solidFill>
                <a:latin typeface="Cambria" pitchFamily="34" charset="0"/>
                <a:ea typeface="Cambria" pitchFamily="34" charset="-122"/>
                <a:cs typeface="Cambria" pitchFamily="34" charset="-120"/>
              </a:rPr>
              <a:t>Today</a:t>
            </a:r>
            <a:endParaRPr lang="en-US" sz="2200" dirty="0"/>
          </a:p>
        </p:txBody>
      </p:sp>
      <p:sp>
        <p:nvSpPr>
          <p:cNvPr id="18" name="Text 16"/>
          <p:cNvSpPr txBox="1"/>
          <p:nvPr/>
        </p:nvSpPr>
        <p:spPr>
          <a:xfrm>
            <a:off x="6077339" y="3955620"/>
            <a:ext cx="2468880" cy="731520"/>
          </a:xfrm>
          <a:prstGeom prst="rect">
            <a:avLst/>
          </a:prstGeom>
          <a:noFill/>
          <a:ln/>
        </p:spPr>
        <p:txBody>
          <a:bodyPr wrap="square" lIns="0" tIns="0" rIns="0" bIns="0" rtlCol="0" anchor="ctr"/>
          <a:lstStyle/>
          <a:p>
            <a:pPr marL="0" indent="0">
              <a:lnSpc>
                <a:spcPts val="1600"/>
              </a:lnSpc>
              <a:buNone/>
            </a:pPr>
            <a:r>
              <a:rPr lang="en-US" dirty="0">
                <a:solidFill>
                  <a:srgbClr val="AEBCD6"/>
                </a:solidFill>
                <a:latin typeface="Calibri" pitchFamily="34" charset="0"/>
                <a:ea typeface="Calibri" pitchFamily="34" charset="-122"/>
                <a:cs typeface="Calibri" pitchFamily="34" charset="-120"/>
              </a:rPr>
              <a:t>Neuro-fuzzy systems,</a:t>
            </a:r>
            <a:endParaRPr lang="en-US" dirty="0"/>
          </a:p>
          <a:p>
            <a:pPr marL="0" indent="0">
              <a:lnSpc>
                <a:spcPts val="1600"/>
              </a:lnSpc>
              <a:buNone/>
            </a:pPr>
            <a:r>
              <a:rPr lang="en-US" dirty="0">
                <a:solidFill>
                  <a:srgbClr val="AEBCD6"/>
                </a:solidFill>
                <a:latin typeface="Calibri" pitchFamily="34" charset="0"/>
                <a:ea typeface="Calibri" pitchFamily="34" charset="-122"/>
                <a:cs typeface="Calibri" pitchFamily="34" charset="-120"/>
              </a:rPr>
              <a:t>explainable control</a:t>
            </a:r>
            <a:endParaRPr lang="en-US" dirty="0"/>
          </a:p>
        </p:txBody>
      </p:sp>
      <p:sp>
        <p:nvSpPr>
          <p:cNvPr id="19" name="Text 17"/>
          <p:cNvSpPr txBox="1"/>
          <p:nvPr/>
        </p:nvSpPr>
        <p:spPr>
          <a:xfrm>
            <a:off x="731520" y="5527828"/>
            <a:ext cx="10515600" cy="653141"/>
          </a:xfrm>
          <a:prstGeom prst="rect">
            <a:avLst/>
          </a:prstGeom>
          <a:noFill/>
          <a:ln/>
        </p:spPr>
        <p:txBody>
          <a:bodyPr wrap="square" lIns="0" tIns="0" rIns="0" bIns="0" rtlCol="0" anchor="ctr"/>
          <a:lstStyle/>
          <a:p>
            <a:pPr marL="0" indent="0">
              <a:buNone/>
            </a:pPr>
            <a:r>
              <a:rPr lang="en-US" sz="2000" b="1" dirty="0">
                <a:solidFill>
                  <a:schemeClr val="accent1">
                    <a:lumMod val="20000"/>
                    <a:lumOff val="80000"/>
                  </a:schemeClr>
                </a:solidFill>
                <a:latin typeface="Calibri" pitchFamily="34" charset="0"/>
                <a:ea typeface="Calibri" pitchFamily="34" charset="-122"/>
                <a:cs typeface="Calibri" pitchFamily="34" charset="-120"/>
              </a:rPr>
              <a:t>Presented By:- Sezal (24BAI70653)</a:t>
            </a:r>
          </a:p>
          <a:p>
            <a:pPr marL="0" indent="0">
              <a:buNone/>
            </a:pPr>
            <a:r>
              <a:rPr lang="en-US" sz="2000" b="1" dirty="0">
                <a:solidFill>
                  <a:schemeClr val="accent1">
                    <a:lumMod val="20000"/>
                    <a:lumOff val="80000"/>
                  </a:schemeClr>
                </a:solidFill>
                <a:latin typeface="Calibri" pitchFamily="34" charset="0"/>
                <a:ea typeface="Calibri" pitchFamily="34" charset="-122"/>
                <a:cs typeface="Calibri" pitchFamily="34" charset="-120"/>
              </a:rPr>
              <a:t>                            </a:t>
            </a:r>
            <a:r>
              <a:rPr lang="en-US" sz="2000" b="1" dirty="0" err="1">
                <a:solidFill>
                  <a:schemeClr val="accent1">
                    <a:lumMod val="20000"/>
                    <a:lumOff val="80000"/>
                  </a:schemeClr>
                </a:solidFill>
                <a:latin typeface="Calibri" pitchFamily="34" charset="0"/>
                <a:ea typeface="Calibri" pitchFamily="34" charset="-122"/>
                <a:cs typeface="Calibri" pitchFamily="34" charset="-120"/>
              </a:rPr>
              <a:t>Minazpreet</a:t>
            </a:r>
            <a:r>
              <a:rPr lang="en-US" sz="2000" b="1" dirty="0">
                <a:solidFill>
                  <a:schemeClr val="accent1">
                    <a:lumMod val="20000"/>
                    <a:lumOff val="80000"/>
                  </a:schemeClr>
                </a:solidFill>
                <a:latin typeface="Calibri" pitchFamily="34" charset="0"/>
                <a:ea typeface="Calibri" pitchFamily="34" charset="-122"/>
                <a:cs typeface="Calibri" pitchFamily="34" charset="-120"/>
              </a:rPr>
              <a:t> (24BAI70630)</a:t>
            </a:r>
            <a:endParaRPr lang="en-US" sz="2000" b="1" dirty="0">
              <a:solidFill>
                <a:schemeClr val="accent1">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74320"/>
          </a:xfrm>
          <a:prstGeom prst="rect">
            <a:avLst/>
          </a:prstGeom>
          <a:noFill/>
          <a:ln/>
        </p:spPr>
        <p:txBody>
          <a:bodyPr wrap="square" lIns="0" tIns="0" rIns="0" bIns="0" rtlCol="0" anchor="ctr"/>
          <a:lstStyle/>
          <a:p>
            <a:pPr marL="0" indent="0">
              <a:buNone/>
            </a:pPr>
            <a:r>
              <a:rPr lang="en-US" b="1" kern="0" spc="200" dirty="0">
                <a:solidFill>
                  <a:srgbClr val="E3963E"/>
                </a:solidFill>
                <a:latin typeface="Calibri" pitchFamily="34" charset="0"/>
                <a:ea typeface="Calibri" pitchFamily="34" charset="-122"/>
                <a:cs typeface="Calibri" pitchFamily="34" charset="-120"/>
              </a:rPr>
              <a:t>THE CORE IDEA</a:t>
            </a:r>
            <a:endParaRPr lang="en-US" dirty="0"/>
          </a:p>
        </p:txBody>
      </p:sp>
      <p:sp>
        <p:nvSpPr>
          <p:cNvPr id="3" name="Text 1"/>
          <p:cNvSpPr txBox="1"/>
          <p:nvPr/>
        </p:nvSpPr>
        <p:spPr>
          <a:xfrm>
            <a:off x="594360" y="658368"/>
            <a:ext cx="10881360" cy="658368"/>
          </a:xfrm>
          <a:prstGeom prst="rect">
            <a:avLst/>
          </a:prstGeom>
          <a:noFill/>
          <a:ln/>
        </p:spPr>
        <p:txBody>
          <a:bodyPr wrap="square" lIns="0" tIns="0" rIns="0" bIns="0" rtlCol="0" anchor="ctr"/>
          <a:lstStyle/>
          <a:p>
            <a:pPr marL="0" indent="0">
              <a:buNone/>
            </a:pPr>
            <a:r>
              <a:rPr lang="en-US" sz="3200" b="1" dirty="0">
                <a:solidFill>
                  <a:srgbClr val="1B2437"/>
                </a:solidFill>
                <a:latin typeface="Cambria" pitchFamily="34" charset="0"/>
                <a:ea typeface="Cambria" pitchFamily="34" charset="-122"/>
                <a:cs typeface="Cambria" pitchFamily="34" charset="-120"/>
              </a:rPr>
              <a:t>Crisp sets say yes or no. Fuzzy sets say how much.</a:t>
            </a:r>
            <a:endParaRPr lang="en-US" sz="3200" dirty="0"/>
          </a:p>
        </p:txBody>
      </p:sp>
      <p:sp>
        <p:nvSpPr>
          <p:cNvPr id="4" name="Shape 2"/>
          <p:cNvSpPr/>
          <p:nvPr/>
        </p:nvSpPr>
        <p:spPr>
          <a:xfrm>
            <a:off x="594360" y="1554480"/>
            <a:ext cx="4160520" cy="1691640"/>
          </a:xfrm>
          <a:prstGeom prst="roundRect">
            <a:avLst>
              <a:gd name="adj" fmla="val 5405"/>
            </a:avLst>
          </a:prstGeom>
          <a:solidFill>
            <a:srgbClr val="F3F5FA"/>
          </a:solidFill>
          <a:ln w="12700">
            <a:solidFill>
              <a:srgbClr val="DCE3F0"/>
            </a:solidFill>
            <a:prstDash val="solid"/>
          </a:ln>
        </p:spPr>
      </p:sp>
      <p:sp>
        <p:nvSpPr>
          <p:cNvPr id="5" name="Text 3"/>
          <p:cNvSpPr txBox="1"/>
          <p:nvPr/>
        </p:nvSpPr>
        <p:spPr>
          <a:xfrm>
            <a:off x="868680" y="1737360"/>
            <a:ext cx="3657600" cy="274320"/>
          </a:xfrm>
          <a:prstGeom prst="rect">
            <a:avLst/>
          </a:prstGeom>
          <a:noFill/>
          <a:ln/>
        </p:spPr>
        <p:txBody>
          <a:bodyPr wrap="square" lIns="0" tIns="0" rIns="0" bIns="0" rtlCol="0" anchor="ctr"/>
          <a:lstStyle/>
          <a:p>
            <a:pPr marL="0" indent="0">
              <a:buNone/>
            </a:pPr>
            <a:r>
              <a:rPr lang="en-US" sz="2000" b="1" dirty="0">
                <a:solidFill>
                  <a:srgbClr val="2F4368"/>
                </a:solidFill>
                <a:latin typeface="Calibri" pitchFamily="34" charset="0"/>
                <a:ea typeface="Calibri" pitchFamily="34" charset="-122"/>
                <a:cs typeface="Calibri" pitchFamily="34" charset="-120"/>
              </a:rPr>
              <a:t>Classical (crisp) logic</a:t>
            </a:r>
            <a:endParaRPr lang="en-US" sz="2000" dirty="0"/>
          </a:p>
        </p:txBody>
      </p:sp>
      <p:sp>
        <p:nvSpPr>
          <p:cNvPr id="6" name="Text 4"/>
          <p:cNvSpPr txBox="1"/>
          <p:nvPr/>
        </p:nvSpPr>
        <p:spPr>
          <a:xfrm>
            <a:off x="868680" y="2084832"/>
            <a:ext cx="3749040" cy="1005840"/>
          </a:xfrm>
          <a:prstGeom prst="rect">
            <a:avLst/>
          </a:prstGeom>
          <a:noFill/>
          <a:ln/>
        </p:spPr>
        <p:txBody>
          <a:bodyPr wrap="square" lIns="0" tIns="0" rIns="0" bIns="0" rtlCol="0" anchor="ctr"/>
          <a:lstStyle/>
          <a:p>
            <a:pPr marL="0" indent="0">
              <a:lnSpc>
                <a:spcPts val="2000"/>
              </a:lnSpc>
              <a:buNone/>
            </a:pPr>
            <a:r>
              <a:rPr lang="en-US" dirty="0">
                <a:solidFill>
                  <a:srgbClr val="1B2437"/>
                </a:solidFill>
                <a:latin typeface="Courier New" pitchFamily="34" charset="0"/>
                <a:ea typeface="Courier New" pitchFamily="34" charset="-122"/>
                <a:cs typeface="Courier New" pitchFamily="34" charset="-120"/>
              </a:rPr>
              <a:t>IF temp &gt; 28 THEN hot</a:t>
            </a:r>
            <a:endParaRPr lang="en-US" dirty="0"/>
          </a:p>
          <a:p>
            <a:pPr marL="0" indent="0">
              <a:lnSpc>
                <a:spcPts val="2000"/>
              </a:lnSpc>
              <a:buNone/>
            </a:pPr>
            <a:r>
              <a:rPr lang="en-US" dirty="0">
                <a:solidFill>
                  <a:srgbClr val="C05A5A"/>
                </a:solidFill>
              </a:rPr>
              <a:t>27.9°C → not hot (0)</a:t>
            </a:r>
            <a:endParaRPr lang="en-US" dirty="0"/>
          </a:p>
          <a:p>
            <a:pPr marL="0" indent="0">
              <a:lnSpc>
                <a:spcPts val="2000"/>
              </a:lnSpc>
              <a:buNone/>
            </a:pPr>
            <a:r>
              <a:rPr lang="en-US" dirty="0">
                <a:solidFill>
                  <a:srgbClr val="C05A5A"/>
                </a:solidFill>
              </a:rPr>
              <a:t>28.1°C → hot (1)</a:t>
            </a:r>
            <a:endParaRPr lang="en-US" dirty="0"/>
          </a:p>
        </p:txBody>
      </p:sp>
      <p:sp>
        <p:nvSpPr>
          <p:cNvPr id="7" name="Shape 5"/>
          <p:cNvSpPr/>
          <p:nvPr/>
        </p:nvSpPr>
        <p:spPr>
          <a:xfrm>
            <a:off x="594360" y="3429000"/>
            <a:ext cx="4160520" cy="2377440"/>
          </a:xfrm>
          <a:prstGeom prst="roundRect">
            <a:avLst>
              <a:gd name="adj" fmla="val 3846"/>
            </a:avLst>
          </a:prstGeom>
          <a:solidFill>
            <a:srgbClr val="2F4368"/>
          </a:solidFill>
          <a:ln/>
        </p:spPr>
      </p:sp>
      <p:sp>
        <p:nvSpPr>
          <p:cNvPr id="8" name="Text 6"/>
          <p:cNvSpPr txBox="1"/>
          <p:nvPr/>
        </p:nvSpPr>
        <p:spPr>
          <a:xfrm>
            <a:off x="868680" y="3611880"/>
            <a:ext cx="3657600" cy="274320"/>
          </a:xfrm>
          <a:prstGeom prst="rect">
            <a:avLst/>
          </a:prstGeom>
          <a:noFill/>
          <a:ln/>
        </p:spPr>
        <p:txBody>
          <a:bodyPr wrap="square" lIns="0" tIns="0" rIns="0" bIns="0" rtlCol="0" anchor="ctr"/>
          <a:lstStyle/>
          <a:p>
            <a:pPr marL="0" indent="0">
              <a:buNone/>
            </a:pPr>
            <a:r>
              <a:rPr lang="en-US" sz="2000" b="1" dirty="0">
                <a:solidFill>
                  <a:srgbClr val="E3963E"/>
                </a:solidFill>
                <a:latin typeface="Calibri" pitchFamily="34" charset="0"/>
                <a:ea typeface="Calibri" pitchFamily="34" charset="-122"/>
                <a:cs typeface="Calibri" pitchFamily="34" charset="-120"/>
              </a:rPr>
              <a:t>Fuzzy logic</a:t>
            </a:r>
            <a:endParaRPr lang="en-US" sz="2000" dirty="0"/>
          </a:p>
        </p:txBody>
      </p:sp>
      <p:sp>
        <p:nvSpPr>
          <p:cNvPr id="9" name="Text 7"/>
          <p:cNvSpPr txBox="1"/>
          <p:nvPr/>
        </p:nvSpPr>
        <p:spPr>
          <a:xfrm>
            <a:off x="868680" y="3959352"/>
            <a:ext cx="3749040" cy="1737360"/>
          </a:xfrm>
          <a:prstGeom prst="rect">
            <a:avLst/>
          </a:prstGeom>
          <a:noFill/>
          <a:ln/>
        </p:spPr>
        <p:txBody>
          <a:bodyPr wrap="square" lIns="0" tIns="0" rIns="0" bIns="0" rtlCol="0" anchor="ctr"/>
          <a:lstStyle/>
          <a:p>
            <a:pPr marL="0" indent="0">
              <a:lnSpc>
                <a:spcPts val="1900"/>
              </a:lnSpc>
              <a:buNone/>
            </a:pPr>
            <a:r>
              <a:rPr lang="en-US" dirty="0">
                <a:solidFill>
                  <a:srgbClr val="E4EAF6"/>
                </a:solidFill>
              </a:rPr>
              <a:t>A membership function μ(x) maps every value to a degree in [0, 1].</a:t>
            </a:r>
            <a:endParaRPr lang="en-US" dirty="0"/>
          </a:p>
          <a:p>
            <a:pPr marL="0" indent="0">
              <a:lnSpc>
                <a:spcPts val="1900"/>
              </a:lnSpc>
              <a:buNone/>
            </a:pPr>
            <a:r>
              <a:rPr lang="en-US" b="1" dirty="0">
                <a:solidFill>
                  <a:srgbClr val="FFFFFF"/>
                </a:solidFill>
              </a:rPr>
              <a:t>At 27°C:   μ_Warm = 0.6   and   μ_Hot = 0.4</a:t>
            </a:r>
            <a:endParaRPr lang="en-US" dirty="0"/>
          </a:p>
          <a:p>
            <a:pPr marL="0" indent="0">
              <a:lnSpc>
                <a:spcPts val="1900"/>
              </a:lnSpc>
              <a:buNone/>
            </a:pPr>
            <a:r>
              <a:rPr lang="en-US" dirty="0">
                <a:solidFill>
                  <a:srgbClr val="E4EAF6"/>
                </a:solidFill>
              </a:rPr>
              <a:t>The reading belongs to both sets — no knife-edge, no jitter when the sensor wobbles by 0.2°.</a:t>
            </a:r>
            <a:endParaRPr lang="en-US" dirty="0"/>
          </a:p>
        </p:txBody>
      </p:sp>
      <p:graphicFrame>
        <p:nvGraphicFramePr>
          <p:cNvPr id="10" name="Chart 0"/>
          <p:cNvGraphicFramePr/>
          <p:nvPr>
            <p:extLst>
              <p:ext uri="{D42A27DB-BD31-4B8C-83A1-F6EECF244321}">
                <p14:modId xmlns:p14="http://schemas.microsoft.com/office/powerpoint/2010/main" val="2888816892"/>
              </p:ext>
            </p:extLst>
          </p:nvPr>
        </p:nvGraphicFramePr>
        <p:xfrm>
          <a:off x="5029200" y="1600200"/>
          <a:ext cx="658368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5029200" y="5669280"/>
            <a:ext cx="6583680" cy="411480"/>
          </a:xfrm>
          <a:prstGeom prst="rect">
            <a:avLst/>
          </a:prstGeom>
          <a:noFill/>
          <a:ln/>
        </p:spPr>
        <p:txBody>
          <a:bodyPr wrap="square" lIns="0" tIns="0" rIns="0" bIns="0" rtlCol="0" anchor="ctr"/>
          <a:lstStyle/>
          <a:p>
            <a:pPr marL="0" indent="0">
              <a:buNone/>
            </a:pPr>
            <a:r>
              <a:rPr lang="en-US" i="1" dirty="0">
                <a:solidFill>
                  <a:srgbClr val="6B7A99"/>
                </a:solidFill>
                <a:latin typeface="Calibri" pitchFamily="34" charset="0"/>
                <a:ea typeface="Calibri" pitchFamily="34" charset="-122"/>
                <a:cs typeface="Calibri" pitchFamily="34" charset="-120"/>
              </a:rPr>
              <a:t>Read the chart at 27°C: the amber curve sits at 0.6, the red at 0.4 — the sum of memberships need not be 1, but here it is.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74320"/>
          </a:xfrm>
          <a:prstGeom prst="rect">
            <a:avLst/>
          </a:prstGeom>
          <a:noFill/>
          <a:ln/>
        </p:spPr>
        <p:txBody>
          <a:bodyPr wrap="square" lIns="0" tIns="0" rIns="0" bIns="0" rtlCol="0" anchor="ctr"/>
          <a:lstStyle/>
          <a:p>
            <a:pPr marL="0" indent="0">
              <a:buNone/>
            </a:pPr>
            <a:r>
              <a:rPr lang="en-US" b="1" kern="0" spc="200" dirty="0">
                <a:solidFill>
                  <a:srgbClr val="E3963E"/>
                </a:solidFill>
                <a:latin typeface="Calibri" pitchFamily="34" charset="0"/>
                <a:ea typeface="Calibri" pitchFamily="34" charset="-122"/>
                <a:cs typeface="Calibri" pitchFamily="34" charset="-120"/>
              </a:rPr>
              <a:t>HOW A FUZZY SYSTEM IS BUILT</a:t>
            </a:r>
            <a:endParaRPr lang="en-US" dirty="0"/>
          </a:p>
        </p:txBody>
      </p:sp>
      <p:sp>
        <p:nvSpPr>
          <p:cNvPr id="3" name="Text 1"/>
          <p:cNvSpPr txBox="1"/>
          <p:nvPr/>
        </p:nvSpPr>
        <p:spPr>
          <a:xfrm>
            <a:off x="594360" y="658368"/>
            <a:ext cx="10881360" cy="658368"/>
          </a:xfrm>
          <a:prstGeom prst="rect">
            <a:avLst/>
          </a:prstGeom>
          <a:noFill/>
          <a:ln/>
        </p:spPr>
        <p:txBody>
          <a:bodyPr wrap="square" lIns="0" tIns="0" rIns="0" bIns="0" rtlCol="0" anchor="ctr"/>
          <a:lstStyle/>
          <a:p>
            <a:pPr marL="0" indent="0">
              <a:buNone/>
            </a:pPr>
            <a:r>
              <a:rPr lang="en-US" sz="3200" b="1" dirty="0">
                <a:solidFill>
                  <a:srgbClr val="1B2437"/>
                </a:solidFill>
                <a:latin typeface="Cambria" pitchFamily="34" charset="0"/>
                <a:ea typeface="Cambria" pitchFamily="34" charset="-122"/>
                <a:cs typeface="Cambria" pitchFamily="34" charset="-120"/>
              </a:rPr>
              <a:t>Four stages: numbers in, rules in the middle, numbers out</a:t>
            </a:r>
            <a:endParaRPr lang="en-US" sz="3200" dirty="0"/>
          </a:p>
        </p:txBody>
      </p:sp>
      <p:sp>
        <p:nvSpPr>
          <p:cNvPr id="4" name="Shape 2"/>
          <p:cNvSpPr/>
          <p:nvPr/>
        </p:nvSpPr>
        <p:spPr>
          <a:xfrm>
            <a:off x="594360" y="3063240"/>
            <a:ext cx="1920240" cy="1417320"/>
          </a:xfrm>
          <a:prstGeom prst="roundRect">
            <a:avLst>
              <a:gd name="adj" fmla="val 7742"/>
            </a:avLst>
          </a:prstGeom>
          <a:solidFill>
            <a:srgbClr val="2F4368"/>
          </a:solidFill>
          <a:ln w="25400">
            <a:solidFill>
              <a:srgbClr val="2F4368"/>
            </a:solidFill>
            <a:prstDash val="solid"/>
          </a:ln>
          <a:effectLst>
            <a:outerShdw blurRad="127000" dist="25400" dir="5400000" algn="bl" rotWithShape="0">
              <a:srgbClr val="9AA6BF">
                <a:alpha val="35000"/>
              </a:srgbClr>
            </a:outerShdw>
          </a:effectLst>
        </p:spPr>
      </p:sp>
      <p:sp>
        <p:nvSpPr>
          <p:cNvPr id="5" name="Text 3"/>
          <p:cNvSpPr txBox="1"/>
          <p:nvPr/>
        </p:nvSpPr>
        <p:spPr>
          <a:xfrm>
            <a:off x="704088" y="3200400"/>
            <a:ext cx="1700784" cy="29260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Crisp input</a:t>
            </a:r>
            <a:endParaRPr lang="en-US" sz="2000" dirty="0"/>
          </a:p>
        </p:txBody>
      </p:sp>
      <p:sp>
        <p:nvSpPr>
          <p:cNvPr id="6" name="Text 4"/>
          <p:cNvSpPr txBox="1"/>
          <p:nvPr/>
        </p:nvSpPr>
        <p:spPr>
          <a:xfrm>
            <a:off x="704088" y="3529584"/>
            <a:ext cx="1700784" cy="822960"/>
          </a:xfrm>
          <a:prstGeom prst="rect">
            <a:avLst/>
          </a:prstGeom>
          <a:noFill/>
          <a:ln/>
        </p:spPr>
        <p:txBody>
          <a:bodyPr wrap="square" lIns="0" tIns="0" rIns="0" bIns="0" rtlCol="0" anchor="ctr"/>
          <a:lstStyle/>
          <a:p>
            <a:pPr marL="0" indent="0" algn="ctr">
              <a:lnSpc>
                <a:spcPts val="1500"/>
              </a:lnSpc>
              <a:buNone/>
            </a:pPr>
            <a:r>
              <a:rPr lang="en-US" dirty="0">
                <a:solidFill>
                  <a:srgbClr val="C6D2EA"/>
                </a:solidFill>
                <a:latin typeface="Calibri" pitchFamily="34" charset="0"/>
                <a:ea typeface="Calibri" pitchFamily="34" charset="-122"/>
                <a:cs typeface="Calibri" pitchFamily="34" charset="-120"/>
              </a:rPr>
              <a:t>T = 27°C</a:t>
            </a:r>
            <a:endParaRPr lang="en-US" dirty="0"/>
          </a:p>
          <a:p>
            <a:pPr marL="0" indent="0" algn="ctr">
              <a:lnSpc>
                <a:spcPts val="1500"/>
              </a:lnSpc>
              <a:buNone/>
            </a:pPr>
            <a:r>
              <a:rPr lang="en-US" dirty="0">
                <a:solidFill>
                  <a:srgbClr val="C6D2EA"/>
                </a:solidFill>
                <a:latin typeface="Calibri" pitchFamily="34" charset="0"/>
                <a:ea typeface="Calibri" pitchFamily="34" charset="-122"/>
                <a:cs typeface="Calibri" pitchFamily="34" charset="-120"/>
              </a:rPr>
              <a:t>H = 65%</a:t>
            </a:r>
            <a:endParaRPr lang="en-US" dirty="0"/>
          </a:p>
        </p:txBody>
      </p:sp>
      <p:sp>
        <p:nvSpPr>
          <p:cNvPr id="7" name="Shape 5"/>
          <p:cNvSpPr/>
          <p:nvPr/>
        </p:nvSpPr>
        <p:spPr>
          <a:xfrm>
            <a:off x="2569464" y="3639312"/>
            <a:ext cx="256032" cy="274320"/>
          </a:xfrm>
          <a:prstGeom prst="rightArrow">
            <a:avLst/>
          </a:prstGeom>
          <a:solidFill>
            <a:srgbClr val="AAB6CE"/>
          </a:solidFill>
          <a:ln/>
        </p:spPr>
      </p:sp>
      <p:sp>
        <p:nvSpPr>
          <p:cNvPr id="8" name="Shape 6"/>
          <p:cNvSpPr/>
          <p:nvPr/>
        </p:nvSpPr>
        <p:spPr>
          <a:xfrm>
            <a:off x="2880360" y="3063240"/>
            <a:ext cx="1920240" cy="1417320"/>
          </a:xfrm>
          <a:prstGeom prst="roundRect">
            <a:avLst>
              <a:gd name="adj" fmla="val 7742"/>
            </a:avLst>
          </a:prstGeom>
          <a:solidFill>
            <a:srgbClr val="FFFFFF"/>
          </a:solidFill>
          <a:ln w="25400">
            <a:solidFill>
              <a:srgbClr val="2E9E8F"/>
            </a:solidFill>
            <a:prstDash val="solid"/>
          </a:ln>
          <a:effectLst>
            <a:outerShdw blurRad="127000" dist="25400" dir="5400000" algn="bl" rotWithShape="0">
              <a:srgbClr val="9AA6BF">
                <a:alpha val="35000"/>
              </a:srgbClr>
            </a:outerShdw>
          </a:effectLst>
        </p:spPr>
      </p:sp>
      <p:sp>
        <p:nvSpPr>
          <p:cNvPr id="9" name="Text 7"/>
          <p:cNvSpPr txBox="1"/>
          <p:nvPr/>
        </p:nvSpPr>
        <p:spPr>
          <a:xfrm>
            <a:off x="2990088" y="3200400"/>
            <a:ext cx="1700784" cy="292608"/>
          </a:xfrm>
          <a:prstGeom prst="rect">
            <a:avLst/>
          </a:prstGeom>
          <a:noFill/>
          <a:ln/>
        </p:spPr>
        <p:txBody>
          <a:bodyPr wrap="square" lIns="0" tIns="0" rIns="0" bIns="0" rtlCol="0" anchor="ctr"/>
          <a:lstStyle/>
          <a:p>
            <a:pPr marL="0" indent="0" algn="ctr">
              <a:buNone/>
            </a:pPr>
            <a:r>
              <a:rPr lang="en-US" sz="2000" b="1" dirty="0">
                <a:solidFill>
                  <a:srgbClr val="1B2437"/>
                </a:solidFill>
                <a:latin typeface="Calibri" pitchFamily="34" charset="0"/>
                <a:ea typeface="Calibri" pitchFamily="34" charset="-122"/>
                <a:cs typeface="Calibri" pitchFamily="34" charset="-120"/>
              </a:rPr>
              <a:t>Fuzzification</a:t>
            </a:r>
            <a:endParaRPr lang="en-US" sz="2000" dirty="0"/>
          </a:p>
        </p:txBody>
      </p:sp>
      <p:sp>
        <p:nvSpPr>
          <p:cNvPr id="10" name="Text 8"/>
          <p:cNvSpPr txBox="1"/>
          <p:nvPr/>
        </p:nvSpPr>
        <p:spPr>
          <a:xfrm>
            <a:off x="2990088" y="3529584"/>
            <a:ext cx="1700784" cy="822960"/>
          </a:xfrm>
          <a:prstGeom prst="rect">
            <a:avLst/>
          </a:prstGeom>
          <a:noFill/>
          <a:ln/>
        </p:spPr>
        <p:txBody>
          <a:bodyPr wrap="square" lIns="0" tIns="0" rIns="0" bIns="0" rtlCol="0" anchor="ctr"/>
          <a:lstStyle/>
          <a:p>
            <a:pPr marL="0" indent="0" algn="ctr">
              <a:lnSpc>
                <a:spcPts val="1500"/>
              </a:lnSpc>
              <a:buNone/>
            </a:pPr>
            <a:r>
              <a:rPr lang="en-US" dirty="0">
                <a:solidFill>
                  <a:srgbClr val="6B7A99"/>
                </a:solidFill>
                <a:latin typeface="Calibri" pitchFamily="34" charset="0"/>
                <a:ea typeface="Calibri" pitchFamily="34" charset="-122"/>
                <a:cs typeface="Calibri" pitchFamily="34" charset="-120"/>
              </a:rPr>
              <a:t>Convert each reading</a:t>
            </a:r>
            <a:endParaRPr lang="en-US" dirty="0"/>
          </a:p>
          <a:p>
            <a:pPr marL="0" indent="0" algn="ctr">
              <a:lnSpc>
                <a:spcPts val="1500"/>
              </a:lnSpc>
              <a:buNone/>
            </a:pPr>
            <a:r>
              <a:rPr lang="en-US" dirty="0">
                <a:solidFill>
                  <a:srgbClr val="6B7A99"/>
                </a:solidFill>
                <a:latin typeface="Calibri" pitchFamily="34" charset="0"/>
                <a:ea typeface="Calibri" pitchFamily="34" charset="-122"/>
                <a:cs typeface="Calibri" pitchFamily="34" charset="-120"/>
              </a:rPr>
              <a:t>into memberships</a:t>
            </a:r>
            <a:endParaRPr lang="en-US" dirty="0"/>
          </a:p>
        </p:txBody>
      </p:sp>
      <p:sp>
        <p:nvSpPr>
          <p:cNvPr id="11" name="Shape 9"/>
          <p:cNvSpPr/>
          <p:nvPr/>
        </p:nvSpPr>
        <p:spPr>
          <a:xfrm>
            <a:off x="4855464" y="3639312"/>
            <a:ext cx="256032" cy="274320"/>
          </a:xfrm>
          <a:prstGeom prst="rightArrow">
            <a:avLst/>
          </a:prstGeom>
          <a:solidFill>
            <a:srgbClr val="AAB6CE"/>
          </a:solidFill>
          <a:ln/>
        </p:spPr>
      </p:sp>
      <p:sp>
        <p:nvSpPr>
          <p:cNvPr id="12" name="Shape 10"/>
          <p:cNvSpPr/>
          <p:nvPr/>
        </p:nvSpPr>
        <p:spPr>
          <a:xfrm>
            <a:off x="5166360" y="3063240"/>
            <a:ext cx="1920240" cy="1417320"/>
          </a:xfrm>
          <a:prstGeom prst="roundRect">
            <a:avLst>
              <a:gd name="adj" fmla="val 7742"/>
            </a:avLst>
          </a:prstGeom>
          <a:solidFill>
            <a:srgbClr val="FFFFFF"/>
          </a:solidFill>
          <a:ln w="25400">
            <a:solidFill>
              <a:srgbClr val="E3963E"/>
            </a:solidFill>
            <a:prstDash val="solid"/>
          </a:ln>
          <a:effectLst>
            <a:outerShdw blurRad="127000" dist="25400" dir="5400000" algn="bl" rotWithShape="0">
              <a:srgbClr val="9AA6BF">
                <a:alpha val="35000"/>
              </a:srgbClr>
            </a:outerShdw>
          </a:effectLst>
        </p:spPr>
      </p:sp>
      <p:sp>
        <p:nvSpPr>
          <p:cNvPr id="13" name="Text 11"/>
          <p:cNvSpPr txBox="1"/>
          <p:nvPr/>
        </p:nvSpPr>
        <p:spPr>
          <a:xfrm>
            <a:off x="5276088" y="3200400"/>
            <a:ext cx="1700784" cy="292608"/>
          </a:xfrm>
          <a:prstGeom prst="rect">
            <a:avLst/>
          </a:prstGeom>
          <a:noFill/>
          <a:ln/>
        </p:spPr>
        <p:txBody>
          <a:bodyPr wrap="square" lIns="0" tIns="0" rIns="0" bIns="0" rtlCol="0" anchor="ctr"/>
          <a:lstStyle/>
          <a:p>
            <a:pPr marL="0" indent="0" algn="ctr">
              <a:buNone/>
            </a:pPr>
            <a:r>
              <a:rPr lang="en-US" sz="2000" b="1" dirty="0">
                <a:solidFill>
                  <a:srgbClr val="1B2437"/>
                </a:solidFill>
                <a:latin typeface="Calibri" pitchFamily="34" charset="0"/>
                <a:ea typeface="Calibri" pitchFamily="34" charset="-122"/>
                <a:cs typeface="Calibri" pitchFamily="34" charset="-120"/>
              </a:rPr>
              <a:t>Inference engine</a:t>
            </a:r>
            <a:endParaRPr lang="en-US" sz="2000" dirty="0"/>
          </a:p>
        </p:txBody>
      </p:sp>
      <p:sp>
        <p:nvSpPr>
          <p:cNvPr id="14" name="Text 12"/>
          <p:cNvSpPr txBox="1"/>
          <p:nvPr/>
        </p:nvSpPr>
        <p:spPr>
          <a:xfrm>
            <a:off x="5276088" y="3529584"/>
            <a:ext cx="1700784" cy="822960"/>
          </a:xfrm>
          <a:prstGeom prst="rect">
            <a:avLst/>
          </a:prstGeom>
          <a:noFill/>
          <a:ln/>
        </p:spPr>
        <p:txBody>
          <a:bodyPr wrap="square" lIns="0" tIns="0" rIns="0" bIns="0" rtlCol="0" anchor="ctr"/>
          <a:lstStyle/>
          <a:p>
            <a:pPr marL="0" indent="0" algn="ctr">
              <a:lnSpc>
                <a:spcPts val="1500"/>
              </a:lnSpc>
              <a:buNone/>
            </a:pPr>
            <a:r>
              <a:rPr lang="en-US" dirty="0">
                <a:solidFill>
                  <a:srgbClr val="6B7A99"/>
                </a:solidFill>
                <a:latin typeface="Calibri" pitchFamily="34" charset="0"/>
                <a:ea typeface="Calibri" pitchFamily="34" charset="-122"/>
                <a:cs typeface="Calibri" pitchFamily="34" charset="-120"/>
              </a:rPr>
              <a:t>Fire every rule,</a:t>
            </a:r>
            <a:endParaRPr lang="en-US" dirty="0"/>
          </a:p>
          <a:p>
            <a:pPr marL="0" indent="0" algn="ctr">
              <a:lnSpc>
                <a:spcPts val="1500"/>
              </a:lnSpc>
              <a:buNone/>
            </a:pPr>
            <a:r>
              <a:rPr lang="en-US" dirty="0">
                <a:solidFill>
                  <a:srgbClr val="6B7A99"/>
                </a:solidFill>
                <a:latin typeface="Calibri" pitchFamily="34" charset="0"/>
                <a:ea typeface="Calibri" pitchFamily="34" charset="-122"/>
                <a:cs typeface="Calibri" pitchFamily="34" charset="-120"/>
              </a:rPr>
              <a:t>take min / max</a:t>
            </a:r>
            <a:endParaRPr lang="en-US" dirty="0"/>
          </a:p>
        </p:txBody>
      </p:sp>
      <p:sp>
        <p:nvSpPr>
          <p:cNvPr id="15" name="Shape 13"/>
          <p:cNvSpPr/>
          <p:nvPr/>
        </p:nvSpPr>
        <p:spPr>
          <a:xfrm>
            <a:off x="7141464" y="3639312"/>
            <a:ext cx="256032" cy="274320"/>
          </a:xfrm>
          <a:prstGeom prst="rightArrow">
            <a:avLst/>
          </a:prstGeom>
          <a:solidFill>
            <a:srgbClr val="AAB6CE"/>
          </a:solidFill>
          <a:ln/>
        </p:spPr>
      </p:sp>
      <p:sp>
        <p:nvSpPr>
          <p:cNvPr id="16" name="Shape 14"/>
          <p:cNvSpPr/>
          <p:nvPr/>
        </p:nvSpPr>
        <p:spPr>
          <a:xfrm>
            <a:off x="7452360" y="3063240"/>
            <a:ext cx="1920240" cy="1417320"/>
          </a:xfrm>
          <a:prstGeom prst="roundRect">
            <a:avLst>
              <a:gd name="adj" fmla="val 7742"/>
            </a:avLst>
          </a:prstGeom>
          <a:solidFill>
            <a:srgbClr val="FFFFFF"/>
          </a:solidFill>
          <a:ln w="25400">
            <a:solidFill>
              <a:srgbClr val="2E9E8F"/>
            </a:solidFill>
            <a:prstDash val="solid"/>
          </a:ln>
          <a:effectLst>
            <a:outerShdw blurRad="127000" dist="25400" dir="5400000" algn="bl" rotWithShape="0">
              <a:srgbClr val="9AA6BF">
                <a:alpha val="35000"/>
              </a:srgbClr>
            </a:outerShdw>
          </a:effectLst>
        </p:spPr>
      </p:sp>
      <p:sp>
        <p:nvSpPr>
          <p:cNvPr id="17" name="Text 15"/>
          <p:cNvSpPr txBox="1"/>
          <p:nvPr/>
        </p:nvSpPr>
        <p:spPr>
          <a:xfrm>
            <a:off x="7562088" y="3200400"/>
            <a:ext cx="1700784" cy="292608"/>
          </a:xfrm>
          <a:prstGeom prst="rect">
            <a:avLst/>
          </a:prstGeom>
          <a:noFill/>
          <a:ln/>
        </p:spPr>
        <p:txBody>
          <a:bodyPr wrap="square" lIns="0" tIns="0" rIns="0" bIns="0" rtlCol="0" anchor="ctr"/>
          <a:lstStyle/>
          <a:p>
            <a:pPr marL="0" indent="0" algn="ctr">
              <a:buNone/>
            </a:pPr>
            <a:r>
              <a:rPr lang="en-US" sz="2000" b="1" dirty="0">
                <a:solidFill>
                  <a:srgbClr val="1B2437"/>
                </a:solidFill>
                <a:latin typeface="Calibri" pitchFamily="34" charset="0"/>
                <a:ea typeface="Calibri" pitchFamily="34" charset="-122"/>
                <a:cs typeface="Calibri" pitchFamily="34" charset="-120"/>
              </a:rPr>
              <a:t>Defuzzification</a:t>
            </a:r>
            <a:endParaRPr lang="en-US" sz="2000" dirty="0"/>
          </a:p>
        </p:txBody>
      </p:sp>
      <p:sp>
        <p:nvSpPr>
          <p:cNvPr id="18" name="Text 16"/>
          <p:cNvSpPr txBox="1"/>
          <p:nvPr/>
        </p:nvSpPr>
        <p:spPr>
          <a:xfrm>
            <a:off x="7562088" y="3529584"/>
            <a:ext cx="1700784" cy="822960"/>
          </a:xfrm>
          <a:prstGeom prst="rect">
            <a:avLst/>
          </a:prstGeom>
          <a:noFill/>
          <a:ln/>
        </p:spPr>
        <p:txBody>
          <a:bodyPr wrap="square" lIns="0" tIns="0" rIns="0" bIns="0" rtlCol="0" anchor="ctr"/>
          <a:lstStyle/>
          <a:p>
            <a:pPr marL="0" indent="0" algn="ctr">
              <a:lnSpc>
                <a:spcPts val="1500"/>
              </a:lnSpc>
              <a:buNone/>
            </a:pPr>
            <a:r>
              <a:rPr lang="en-US" dirty="0">
                <a:solidFill>
                  <a:srgbClr val="6B7A99"/>
                </a:solidFill>
                <a:latin typeface="Calibri" pitchFamily="34" charset="0"/>
                <a:ea typeface="Calibri" pitchFamily="34" charset="-122"/>
                <a:cs typeface="Calibri" pitchFamily="34" charset="-120"/>
              </a:rPr>
              <a:t>Collapse the fuzzy</a:t>
            </a:r>
            <a:endParaRPr lang="en-US" dirty="0"/>
          </a:p>
          <a:p>
            <a:pPr marL="0" indent="0" algn="ctr">
              <a:lnSpc>
                <a:spcPts val="1500"/>
              </a:lnSpc>
              <a:buNone/>
            </a:pPr>
            <a:r>
              <a:rPr lang="en-US" dirty="0">
                <a:solidFill>
                  <a:srgbClr val="6B7A99"/>
                </a:solidFill>
                <a:latin typeface="Calibri" pitchFamily="34" charset="0"/>
                <a:ea typeface="Calibri" pitchFamily="34" charset="-122"/>
                <a:cs typeface="Calibri" pitchFamily="34" charset="-120"/>
              </a:rPr>
              <a:t>output to one number</a:t>
            </a:r>
            <a:endParaRPr lang="en-US" dirty="0"/>
          </a:p>
        </p:txBody>
      </p:sp>
      <p:sp>
        <p:nvSpPr>
          <p:cNvPr id="19" name="Shape 17"/>
          <p:cNvSpPr/>
          <p:nvPr/>
        </p:nvSpPr>
        <p:spPr>
          <a:xfrm>
            <a:off x="9427464" y="3639312"/>
            <a:ext cx="256032" cy="274320"/>
          </a:xfrm>
          <a:prstGeom prst="rightArrow">
            <a:avLst/>
          </a:prstGeom>
          <a:solidFill>
            <a:srgbClr val="AAB6CE"/>
          </a:solidFill>
          <a:ln/>
        </p:spPr>
      </p:sp>
      <p:sp>
        <p:nvSpPr>
          <p:cNvPr id="20" name="Shape 18"/>
          <p:cNvSpPr/>
          <p:nvPr/>
        </p:nvSpPr>
        <p:spPr>
          <a:xfrm>
            <a:off x="9738360" y="3063240"/>
            <a:ext cx="1920240" cy="1417320"/>
          </a:xfrm>
          <a:prstGeom prst="roundRect">
            <a:avLst>
              <a:gd name="adj" fmla="val 7742"/>
            </a:avLst>
          </a:prstGeom>
          <a:solidFill>
            <a:srgbClr val="2F4368"/>
          </a:solidFill>
          <a:ln w="25400">
            <a:solidFill>
              <a:srgbClr val="2F4368"/>
            </a:solidFill>
            <a:prstDash val="solid"/>
          </a:ln>
          <a:effectLst>
            <a:outerShdw blurRad="127000" dist="25400" dir="5400000" algn="bl" rotWithShape="0">
              <a:srgbClr val="9AA6BF">
                <a:alpha val="35000"/>
              </a:srgbClr>
            </a:outerShdw>
          </a:effectLst>
        </p:spPr>
      </p:sp>
      <p:sp>
        <p:nvSpPr>
          <p:cNvPr id="21" name="Text 19"/>
          <p:cNvSpPr txBox="1"/>
          <p:nvPr/>
        </p:nvSpPr>
        <p:spPr>
          <a:xfrm>
            <a:off x="9848088" y="3200400"/>
            <a:ext cx="1700784" cy="29260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Crisp output</a:t>
            </a:r>
            <a:endParaRPr lang="en-US" sz="2000" dirty="0"/>
          </a:p>
        </p:txBody>
      </p:sp>
      <p:sp>
        <p:nvSpPr>
          <p:cNvPr id="22" name="Text 20"/>
          <p:cNvSpPr txBox="1"/>
          <p:nvPr/>
        </p:nvSpPr>
        <p:spPr>
          <a:xfrm>
            <a:off x="9848088" y="3529584"/>
            <a:ext cx="1700784" cy="822960"/>
          </a:xfrm>
          <a:prstGeom prst="rect">
            <a:avLst/>
          </a:prstGeom>
          <a:noFill/>
          <a:ln/>
        </p:spPr>
        <p:txBody>
          <a:bodyPr wrap="square" lIns="0" tIns="0" rIns="0" bIns="0" rtlCol="0" anchor="ctr"/>
          <a:lstStyle/>
          <a:p>
            <a:pPr marL="0" indent="0" algn="ctr">
              <a:lnSpc>
                <a:spcPts val="1500"/>
              </a:lnSpc>
              <a:buNone/>
            </a:pPr>
            <a:r>
              <a:rPr lang="en-US" dirty="0">
                <a:solidFill>
                  <a:srgbClr val="C6D2EA"/>
                </a:solidFill>
                <a:latin typeface="Calibri" pitchFamily="34" charset="0"/>
                <a:ea typeface="Calibri" pitchFamily="34" charset="-122"/>
                <a:cs typeface="Calibri" pitchFamily="34" charset="-120"/>
              </a:rPr>
              <a:t>Fan speed</a:t>
            </a:r>
            <a:endParaRPr lang="en-US" dirty="0"/>
          </a:p>
          <a:p>
            <a:pPr marL="0" indent="0" algn="ctr">
              <a:lnSpc>
                <a:spcPts val="1500"/>
              </a:lnSpc>
              <a:buNone/>
            </a:pPr>
            <a:r>
              <a:rPr lang="en-US" dirty="0">
                <a:solidFill>
                  <a:srgbClr val="C6D2EA"/>
                </a:solidFill>
                <a:latin typeface="Calibri" pitchFamily="34" charset="0"/>
                <a:ea typeface="Calibri" pitchFamily="34" charset="-122"/>
                <a:cs typeface="Calibri" pitchFamily="34" charset="-120"/>
              </a:rPr>
              <a:t>= 82%</a:t>
            </a:r>
            <a:endParaRPr lang="en-US" dirty="0"/>
          </a:p>
        </p:txBody>
      </p:sp>
      <p:sp>
        <p:nvSpPr>
          <p:cNvPr id="23" name="Shape 21"/>
          <p:cNvSpPr/>
          <p:nvPr/>
        </p:nvSpPr>
        <p:spPr>
          <a:xfrm>
            <a:off x="4142232" y="1600200"/>
            <a:ext cx="3794760" cy="1051560"/>
          </a:xfrm>
          <a:prstGeom prst="roundRect">
            <a:avLst>
              <a:gd name="adj" fmla="val 10435"/>
            </a:avLst>
          </a:prstGeom>
          <a:solidFill>
            <a:srgbClr val="FDF3E4"/>
          </a:solidFill>
          <a:ln w="19050">
            <a:solidFill>
              <a:srgbClr val="E3963E"/>
            </a:solidFill>
            <a:prstDash val="solid"/>
          </a:ln>
        </p:spPr>
      </p:sp>
      <p:sp>
        <p:nvSpPr>
          <p:cNvPr id="24" name="Text 22"/>
          <p:cNvSpPr txBox="1"/>
          <p:nvPr/>
        </p:nvSpPr>
        <p:spPr>
          <a:xfrm>
            <a:off x="4526279" y="1719072"/>
            <a:ext cx="3498047" cy="265176"/>
          </a:xfrm>
          <a:prstGeom prst="rect">
            <a:avLst/>
          </a:prstGeom>
          <a:noFill/>
          <a:ln/>
        </p:spPr>
        <p:txBody>
          <a:bodyPr wrap="square" lIns="0" tIns="0" rIns="0" bIns="0" rtlCol="0" anchor="ctr"/>
          <a:lstStyle/>
          <a:p>
            <a:pPr marL="0" indent="0">
              <a:buNone/>
            </a:pPr>
            <a:r>
              <a:rPr lang="en-US" sz="1600" b="1" dirty="0">
                <a:solidFill>
                  <a:srgbClr val="8A5A16"/>
                </a:solidFill>
                <a:latin typeface="Calibri" pitchFamily="34" charset="0"/>
                <a:ea typeface="Calibri" pitchFamily="34" charset="-122"/>
                <a:cs typeface="Calibri" pitchFamily="34" charset="-120"/>
              </a:rPr>
              <a:t>Rule base  (written by a human expert)</a:t>
            </a:r>
            <a:endParaRPr lang="en-US" sz="1600" dirty="0"/>
          </a:p>
        </p:txBody>
      </p:sp>
      <p:sp>
        <p:nvSpPr>
          <p:cNvPr id="25" name="Text 23"/>
          <p:cNvSpPr txBox="1"/>
          <p:nvPr/>
        </p:nvSpPr>
        <p:spPr>
          <a:xfrm>
            <a:off x="4526280" y="2011680"/>
            <a:ext cx="3200400" cy="548640"/>
          </a:xfrm>
          <a:prstGeom prst="rect">
            <a:avLst/>
          </a:prstGeom>
          <a:noFill/>
          <a:ln/>
        </p:spPr>
        <p:txBody>
          <a:bodyPr wrap="square" lIns="0" tIns="0" rIns="0" bIns="0" rtlCol="0" anchor="ctr"/>
          <a:lstStyle/>
          <a:p>
            <a:pPr marL="0" indent="0">
              <a:lnSpc>
                <a:spcPts val="1500"/>
              </a:lnSpc>
              <a:buNone/>
            </a:pPr>
            <a:r>
              <a:rPr lang="en-US" sz="1400" dirty="0">
                <a:solidFill>
                  <a:srgbClr val="1B2437"/>
                </a:solidFill>
                <a:latin typeface="Courier New" pitchFamily="34" charset="0"/>
                <a:ea typeface="Courier New" pitchFamily="34" charset="-122"/>
                <a:cs typeface="Courier New" pitchFamily="34" charset="-120"/>
              </a:rPr>
              <a:t>IF temp is Warm AND humidity is High</a:t>
            </a:r>
            <a:endParaRPr lang="en-US" sz="1400" dirty="0"/>
          </a:p>
          <a:p>
            <a:pPr marL="0" indent="0">
              <a:lnSpc>
                <a:spcPts val="1500"/>
              </a:lnSpc>
              <a:buNone/>
            </a:pPr>
            <a:r>
              <a:rPr lang="en-US" sz="1400" dirty="0">
                <a:solidFill>
                  <a:srgbClr val="1B2437"/>
                </a:solidFill>
                <a:latin typeface="Courier New" pitchFamily="34" charset="0"/>
                <a:ea typeface="Courier New" pitchFamily="34" charset="-122"/>
                <a:cs typeface="Courier New" pitchFamily="34" charset="-120"/>
              </a:rPr>
              <a:t>THEN fan is High</a:t>
            </a:r>
            <a:endParaRPr lang="en-US" sz="1400" dirty="0"/>
          </a:p>
        </p:txBody>
      </p:sp>
      <p:sp>
        <p:nvSpPr>
          <p:cNvPr id="26" name="Shape 24"/>
          <p:cNvSpPr/>
          <p:nvPr/>
        </p:nvSpPr>
        <p:spPr>
          <a:xfrm>
            <a:off x="5989320" y="2697480"/>
            <a:ext cx="274320" cy="292608"/>
          </a:xfrm>
          <a:prstGeom prst="downArrow">
            <a:avLst/>
          </a:prstGeom>
          <a:solidFill>
            <a:srgbClr val="E3963E"/>
          </a:solidFill>
          <a:ln/>
        </p:spPr>
      </p:sp>
      <p:sp>
        <p:nvSpPr>
          <p:cNvPr id="27" name="Shape 25"/>
          <p:cNvSpPr/>
          <p:nvPr/>
        </p:nvSpPr>
        <p:spPr>
          <a:xfrm>
            <a:off x="594360" y="4892040"/>
            <a:ext cx="384048" cy="384048"/>
          </a:xfrm>
          <a:prstGeom prst="ellipse">
            <a:avLst/>
          </a:prstGeom>
          <a:solidFill>
            <a:srgbClr val="2F4368"/>
          </a:solidFill>
          <a:ln/>
        </p:spPr>
      </p:sp>
      <p:sp>
        <p:nvSpPr>
          <p:cNvPr id="28" name="Text 26"/>
          <p:cNvSpPr txBox="1"/>
          <p:nvPr/>
        </p:nvSpPr>
        <p:spPr>
          <a:xfrm>
            <a:off x="594360" y="48920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9" name="Text 27"/>
          <p:cNvSpPr txBox="1"/>
          <p:nvPr/>
        </p:nvSpPr>
        <p:spPr>
          <a:xfrm>
            <a:off x="1124712" y="4901184"/>
            <a:ext cx="3017520" cy="274320"/>
          </a:xfrm>
          <a:prstGeom prst="rect">
            <a:avLst/>
          </a:prstGeom>
          <a:noFill/>
          <a:ln/>
        </p:spPr>
        <p:txBody>
          <a:bodyPr wrap="square" lIns="0" tIns="0" rIns="0" bIns="0" rtlCol="0" anchor="ctr"/>
          <a:lstStyle/>
          <a:p>
            <a:pPr marL="0" indent="0">
              <a:buNone/>
            </a:pPr>
            <a:r>
              <a:rPr lang="en-US" sz="2000" b="1" dirty="0">
                <a:solidFill>
                  <a:srgbClr val="1B2437"/>
                </a:solidFill>
                <a:latin typeface="Calibri" pitchFamily="34" charset="0"/>
                <a:ea typeface="Calibri" pitchFamily="34" charset="-122"/>
                <a:cs typeface="Calibri" pitchFamily="34" charset="-120"/>
              </a:rPr>
              <a:t>No training data is required</a:t>
            </a:r>
            <a:r>
              <a:rPr lang="en-US" sz="1300" b="1" dirty="0">
                <a:solidFill>
                  <a:srgbClr val="1B2437"/>
                </a:solidFill>
                <a:latin typeface="Calibri" pitchFamily="34" charset="0"/>
                <a:ea typeface="Calibri" pitchFamily="34" charset="-122"/>
                <a:cs typeface="Calibri" pitchFamily="34" charset="-120"/>
              </a:rPr>
              <a:t>.</a:t>
            </a:r>
            <a:endParaRPr lang="en-US" sz="1300" dirty="0"/>
          </a:p>
        </p:txBody>
      </p:sp>
      <p:sp>
        <p:nvSpPr>
          <p:cNvPr id="30" name="Text 28"/>
          <p:cNvSpPr txBox="1"/>
          <p:nvPr/>
        </p:nvSpPr>
        <p:spPr>
          <a:xfrm>
            <a:off x="1124712" y="5193792"/>
            <a:ext cx="3063240" cy="685800"/>
          </a:xfrm>
          <a:prstGeom prst="rect">
            <a:avLst/>
          </a:prstGeom>
          <a:noFill/>
          <a:ln/>
        </p:spPr>
        <p:txBody>
          <a:bodyPr wrap="square" lIns="0" tIns="0" rIns="0" bIns="0" rtlCol="0" anchor="ctr"/>
          <a:lstStyle/>
          <a:p>
            <a:pPr marL="0" indent="0">
              <a:lnSpc>
                <a:spcPts val="1500"/>
              </a:lnSpc>
              <a:buNone/>
            </a:pPr>
            <a:r>
              <a:rPr lang="en-US" dirty="0">
                <a:solidFill>
                  <a:srgbClr val="6B7A99"/>
                </a:solidFill>
                <a:latin typeface="Calibri" pitchFamily="34" charset="0"/>
                <a:ea typeface="Calibri" pitchFamily="34" charset="-122"/>
                <a:cs typeface="Calibri" pitchFamily="34" charset="-120"/>
              </a:rPr>
              <a:t>Knowledge enters as sentences, not as a labelled dataset.</a:t>
            </a:r>
            <a:endParaRPr lang="en-US" dirty="0"/>
          </a:p>
        </p:txBody>
      </p:sp>
      <p:sp>
        <p:nvSpPr>
          <p:cNvPr id="31" name="Shape 29"/>
          <p:cNvSpPr/>
          <p:nvPr/>
        </p:nvSpPr>
        <p:spPr>
          <a:xfrm>
            <a:off x="4343400" y="4892040"/>
            <a:ext cx="384048" cy="384048"/>
          </a:xfrm>
          <a:prstGeom prst="ellipse">
            <a:avLst/>
          </a:prstGeom>
          <a:solidFill>
            <a:srgbClr val="2F4368"/>
          </a:solidFill>
          <a:ln/>
        </p:spPr>
      </p:sp>
      <p:sp>
        <p:nvSpPr>
          <p:cNvPr id="32" name="Text 30"/>
          <p:cNvSpPr txBox="1"/>
          <p:nvPr/>
        </p:nvSpPr>
        <p:spPr>
          <a:xfrm>
            <a:off x="4343400" y="48920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3" name="Text 31"/>
          <p:cNvSpPr txBox="1"/>
          <p:nvPr/>
        </p:nvSpPr>
        <p:spPr>
          <a:xfrm>
            <a:off x="4901184" y="4903797"/>
            <a:ext cx="3017520" cy="274320"/>
          </a:xfrm>
          <a:prstGeom prst="rect">
            <a:avLst/>
          </a:prstGeom>
          <a:noFill/>
          <a:ln/>
        </p:spPr>
        <p:txBody>
          <a:bodyPr wrap="square" lIns="0" tIns="0" rIns="0" bIns="0" rtlCol="0" anchor="ctr"/>
          <a:lstStyle/>
          <a:p>
            <a:pPr marL="0" indent="0">
              <a:buNone/>
            </a:pPr>
            <a:r>
              <a:rPr lang="en-US" sz="2000" b="1" dirty="0">
                <a:solidFill>
                  <a:srgbClr val="1B2437"/>
                </a:solidFill>
                <a:latin typeface="Calibri" pitchFamily="34" charset="0"/>
                <a:ea typeface="Calibri" pitchFamily="34" charset="-122"/>
                <a:cs typeface="Calibri" pitchFamily="34" charset="-120"/>
              </a:rPr>
              <a:t>Every decision is traceable</a:t>
            </a:r>
            <a:r>
              <a:rPr lang="en-US" sz="1300" b="1" dirty="0">
                <a:solidFill>
                  <a:srgbClr val="1B2437"/>
                </a:solidFill>
                <a:latin typeface="Calibri" pitchFamily="34" charset="0"/>
                <a:ea typeface="Calibri" pitchFamily="34" charset="-122"/>
                <a:cs typeface="Calibri" pitchFamily="34" charset="-120"/>
              </a:rPr>
              <a:t>.</a:t>
            </a:r>
            <a:endParaRPr lang="en-US" sz="1300" dirty="0"/>
          </a:p>
        </p:txBody>
      </p:sp>
      <p:sp>
        <p:nvSpPr>
          <p:cNvPr id="34" name="Text 32"/>
          <p:cNvSpPr txBox="1"/>
          <p:nvPr/>
        </p:nvSpPr>
        <p:spPr>
          <a:xfrm>
            <a:off x="4901184" y="5193792"/>
            <a:ext cx="3063240" cy="685800"/>
          </a:xfrm>
          <a:prstGeom prst="rect">
            <a:avLst/>
          </a:prstGeom>
          <a:noFill/>
          <a:ln/>
        </p:spPr>
        <p:txBody>
          <a:bodyPr wrap="square" lIns="0" tIns="0" rIns="0" bIns="0" rtlCol="0" anchor="ctr"/>
          <a:lstStyle/>
          <a:p>
            <a:pPr marL="0" indent="0">
              <a:lnSpc>
                <a:spcPts val="1500"/>
              </a:lnSpc>
              <a:buNone/>
            </a:pPr>
            <a:r>
              <a:rPr lang="en-US" dirty="0">
                <a:solidFill>
                  <a:srgbClr val="6B7A99"/>
                </a:solidFill>
                <a:latin typeface="Calibri" pitchFamily="34" charset="0"/>
                <a:ea typeface="Calibri" pitchFamily="34" charset="-122"/>
                <a:cs typeface="Calibri" pitchFamily="34" charset="-120"/>
              </a:rPr>
              <a:t>You can name the rules that fired and by how much.</a:t>
            </a:r>
            <a:endParaRPr lang="en-US" dirty="0"/>
          </a:p>
        </p:txBody>
      </p:sp>
      <p:sp>
        <p:nvSpPr>
          <p:cNvPr id="35" name="Shape 33"/>
          <p:cNvSpPr/>
          <p:nvPr/>
        </p:nvSpPr>
        <p:spPr>
          <a:xfrm>
            <a:off x="8092440" y="4892040"/>
            <a:ext cx="384048" cy="384048"/>
          </a:xfrm>
          <a:prstGeom prst="ellipse">
            <a:avLst/>
          </a:prstGeom>
          <a:solidFill>
            <a:srgbClr val="C05A5A"/>
          </a:solidFill>
          <a:ln/>
        </p:spPr>
      </p:sp>
      <p:sp>
        <p:nvSpPr>
          <p:cNvPr id="36" name="Text 34"/>
          <p:cNvSpPr txBox="1"/>
          <p:nvPr/>
        </p:nvSpPr>
        <p:spPr>
          <a:xfrm>
            <a:off x="8092440" y="48920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7" name="Text 35"/>
          <p:cNvSpPr txBox="1"/>
          <p:nvPr/>
        </p:nvSpPr>
        <p:spPr>
          <a:xfrm>
            <a:off x="8677656" y="4775407"/>
            <a:ext cx="3377495" cy="544161"/>
          </a:xfrm>
          <a:prstGeom prst="rect">
            <a:avLst/>
          </a:prstGeom>
          <a:noFill/>
          <a:ln/>
        </p:spPr>
        <p:txBody>
          <a:bodyPr wrap="square" lIns="0" tIns="0" rIns="0" bIns="0" rtlCol="0" anchor="ctr"/>
          <a:lstStyle/>
          <a:p>
            <a:pPr marL="0" indent="0">
              <a:buNone/>
            </a:pPr>
            <a:r>
              <a:rPr lang="en-US" sz="2000" b="1" dirty="0">
                <a:solidFill>
                  <a:srgbClr val="1B2437"/>
                </a:solidFill>
                <a:latin typeface="Calibri" pitchFamily="34" charset="0"/>
                <a:ea typeface="Calibri" pitchFamily="34" charset="-122"/>
                <a:cs typeface="Calibri" pitchFamily="34" charset="-120"/>
              </a:rPr>
              <a:t>Cost: the rules are hand-made.</a:t>
            </a:r>
            <a:endParaRPr lang="en-US" sz="2000" dirty="0"/>
          </a:p>
        </p:txBody>
      </p:sp>
      <p:sp>
        <p:nvSpPr>
          <p:cNvPr id="38" name="Text 36"/>
          <p:cNvSpPr txBox="1"/>
          <p:nvPr/>
        </p:nvSpPr>
        <p:spPr>
          <a:xfrm>
            <a:off x="8677656" y="5175504"/>
            <a:ext cx="3063240" cy="685800"/>
          </a:xfrm>
          <a:prstGeom prst="rect">
            <a:avLst/>
          </a:prstGeom>
          <a:noFill/>
          <a:ln/>
        </p:spPr>
        <p:txBody>
          <a:bodyPr wrap="square" lIns="0" tIns="0" rIns="0" bIns="0" rtlCol="0" anchor="ctr"/>
          <a:lstStyle/>
          <a:p>
            <a:pPr marL="0" indent="0">
              <a:lnSpc>
                <a:spcPts val="1500"/>
              </a:lnSpc>
              <a:buNone/>
            </a:pPr>
            <a:r>
              <a:rPr lang="en-US" dirty="0">
                <a:solidFill>
                  <a:srgbClr val="6B7A99"/>
                </a:solidFill>
                <a:latin typeface="Calibri" pitchFamily="34" charset="0"/>
                <a:ea typeface="Calibri" pitchFamily="34" charset="-122"/>
                <a:cs typeface="Calibri" pitchFamily="34" charset="-120"/>
              </a:rPr>
              <a:t>Team membership shapes by hand does not scale</a:t>
            </a:r>
            <a:r>
              <a:rPr lang="en-US" sz="1150" dirty="0">
                <a:solidFill>
                  <a:srgbClr val="6B7A99"/>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74320"/>
          </a:xfrm>
          <a:prstGeom prst="rect">
            <a:avLst/>
          </a:prstGeom>
          <a:noFill/>
          <a:ln/>
        </p:spPr>
        <p:txBody>
          <a:bodyPr wrap="square" lIns="0" tIns="0" rIns="0" bIns="0" rtlCol="0" anchor="ctr"/>
          <a:lstStyle/>
          <a:p>
            <a:pPr marL="0" indent="0">
              <a:buNone/>
            </a:pPr>
            <a:r>
              <a:rPr lang="en-US" b="1" kern="0" spc="200" dirty="0">
                <a:solidFill>
                  <a:srgbClr val="E3963E"/>
                </a:solidFill>
                <a:latin typeface="Calibri" pitchFamily="34" charset="0"/>
                <a:ea typeface="Calibri" pitchFamily="34" charset="-122"/>
                <a:cs typeface="Calibri" pitchFamily="34" charset="-120"/>
              </a:rPr>
              <a:t>WORKED EXAMPLE  ·  AIR-CONDITIONER CONTROLLER</a:t>
            </a:r>
            <a:endParaRPr lang="en-US" dirty="0"/>
          </a:p>
        </p:txBody>
      </p:sp>
      <p:sp>
        <p:nvSpPr>
          <p:cNvPr id="3" name="Text 1"/>
          <p:cNvSpPr txBox="1"/>
          <p:nvPr/>
        </p:nvSpPr>
        <p:spPr>
          <a:xfrm>
            <a:off x="594360" y="658368"/>
            <a:ext cx="10881360" cy="658368"/>
          </a:xfrm>
          <a:prstGeom prst="rect">
            <a:avLst/>
          </a:prstGeom>
          <a:noFill/>
          <a:ln/>
        </p:spPr>
        <p:txBody>
          <a:bodyPr wrap="square" lIns="0" tIns="0" rIns="0" bIns="0" rtlCol="0" anchor="ctr"/>
          <a:lstStyle/>
          <a:p>
            <a:pPr marL="0" indent="0">
              <a:buNone/>
            </a:pPr>
            <a:r>
              <a:rPr lang="en-US" sz="3200" b="1" dirty="0">
                <a:solidFill>
                  <a:srgbClr val="1B2437"/>
                </a:solidFill>
                <a:latin typeface="Cambria" pitchFamily="34" charset="0"/>
                <a:ea typeface="Cambria" pitchFamily="34" charset="-122"/>
                <a:cs typeface="Cambria" pitchFamily="34" charset="-120"/>
              </a:rPr>
              <a:t>Step 1 — fuzzify the sensors, then fire the rules</a:t>
            </a:r>
            <a:endParaRPr lang="en-US" sz="3200" dirty="0"/>
          </a:p>
        </p:txBody>
      </p:sp>
      <p:sp>
        <p:nvSpPr>
          <p:cNvPr id="4" name="Shape 2"/>
          <p:cNvSpPr/>
          <p:nvPr/>
        </p:nvSpPr>
        <p:spPr>
          <a:xfrm>
            <a:off x="594360" y="1572768"/>
            <a:ext cx="4572000" cy="4206240"/>
          </a:xfrm>
          <a:prstGeom prst="roundRect">
            <a:avLst>
              <a:gd name="adj" fmla="val 2609"/>
            </a:avLst>
          </a:prstGeom>
          <a:solidFill>
            <a:srgbClr val="F3F5FA"/>
          </a:solidFill>
          <a:ln w="12700">
            <a:solidFill>
              <a:srgbClr val="DCE3F0"/>
            </a:solidFill>
            <a:prstDash val="solid"/>
          </a:ln>
        </p:spPr>
      </p:sp>
      <p:sp>
        <p:nvSpPr>
          <p:cNvPr id="5" name="Text 3"/>
          <p:cNvSpPr txBox="1"/>
          <p:nvPr/>
        </p:nvSpPr>
        <p:spPr>
          <a:xfrm>
            <a:off x="868680" y="1737360"/>
            <a:ext cx="4023360" cy="274320"/>
          </a:xfrm>
          <a:prstGeom prst="rect">
            <a:avLst/>
          </a:prstGeom>
          <a:noFill/>
          <a:ln/>
        </p:spPr>
        <p:txBody>
          <a:bodyPr wrap="square" lIns="0" tIns="0" rIns="0" bIns="0" rtlCol="0" anchor="ctr"/>
          <a:lstStyle/>
          <a:p>
            <a:pPr marL="0" indent="0">
              <a:buNone/>
            </a:pPr>
            <a:r>
              <a:rPr lang="en-US" b="1" dirty="0">
                <a:solidFill>
                  <a:srgbClr val="2F4368"/>
                </a:solidFill>
                <a:latin typeface="Calibri" pitchFamily="34" charset="0"/>
                <a:ea typeface="Calibri" pitchFamily="34" charset="-122"/>
                <a:cs typeface="Calibri" pitchFamily="34" charset="-120"/>
              </a:rPr>
              <a:t>Sensor readings</a:t>
            </a:r>
            <a:endParaRPr lang="en-US" dirty="0"/>
          </a:p>
        </p:txBody>
      </p:sp>
      <p:sp>
        <p:nvSpPr>
          <p:cNvPr id="6" name="Text 4"/>
          <p:cNvSpPr txBox="1"/>
          <p:nvPr/>
        </p:nvSpPr>
        <p:spPr>
          <a:xfrm>
            <a:off x="868680" y="2029968"/>
            <a:ext cx="4023360" cy="365760"/>
          </a:xfrm>
          <a:prstGeom prst="rect">
            <a:avLst/>
          </a:prstGeom>
          <a:noFill/>
          <a:ln/>
        </p:spPr>
        <p:txBody>
          <a:bodyPr wrap="square" lIns="0" tIns="0" rIns="0" bIns="0" rtlCol="0" anchor="ctr"/>
          <a:lstStyle/>
          <a:p>
            <a:pPr marL="0" indent="0">
              <a:buNone/>
            </a:pPr>
            <a:r>
              <a:rPr lang="en-US" sz="2200" b="1" dirty="0">
                <a:solidFill>
                  <a:srgbClr val="1B2437"/>
                </a:solidFill>
                <a:latin typeface="Cambria" pitchFamily="34" charset="0"/>
                <a:ea typeface="Cambria" pitchFamily="34" charset="-122"/>
                <a:cs typeface="Cambria" pitchFamily="34" charset="-120"/>
              </a:rPr>
              <a:t>T = 27°C        H = 65%</a:t>
            </a:r>
            <a:endParaRPr lang="en-US" sz="2200" dirty="0"/>
          </a:p>
        </p:txBody>
      </p:sp>
      <p:sp>
        <p:nvSpPr>
          <p:cNvPr id="7" name="Text 5"/>
          <p:cNvSpPr txBox="1"/>
          <p:nvPr/>
        </p:nvSpPr>
        <p:spPr>
          <a:xfrm>
            <a:off x="868680" y="2542032"/>
            <a:ext cx="4023360" cy="256032"/>
          </a:xfrm>
          <a:prstGeom prst="rect">
            <a:avLst/>
          </a:prstGeom>
          <a:noFill/>
          <a:ln/>
        </p:spPr>
        <p:txBody>
          <a:bodyPr wrap="square" lIns="0" tIns="0" rIns="0" bIns="0" rtlCol="0" anchor="ctr"/>
          <a:lstStyle/>
          <a:p>
            <a:pPr marL="0" indent="0">
              <a:buNone/>
            </a:pPr>
            <a:r>
              <a:rPr lang="en-US" sz="1400" b="1" dirty="0">
                <a:solidFill>
                  <a:srgbClr val="6B7A99"/>
                </a:solidFill>
                <a:latin typeface="Calibri" pitchFamily="34" charset="0"/>
                <a:ea typeface="Calibri" pitchFamily="34" charset="-122"/>
                <a:cs typeface="Calibri" pitchFamily="34" charset="-120"/>
              </a:rPr>
              <a:t>Temperature — triangles (15,20,25) (20,25,30) (25,30,35</a:t>
            </a:r>
            <a:r>
              <a:rPr lang="en-US" sz="1150" b="1" dirty="0">
                <a:solidFill>
                  <a:srgbClr val="6B7A99"/>
                </a:solidFill>
                <a:latin typeface="Calibri" pitchFamily="34" charset="0"/>
                <a:ea typeface="Calibri" pitchFamily="34" charset="-122"/>
                <a:cs typeface="Calibri" pitchFamily="34" charset="-120"/>
              </a:rPr>
              <a:t>)</a:t>
            </a:r>
            <a:endParaRPr lang="en-US" sz="1150" dirty="0"/>
          </a:p>
        </p:txBody>
      </p:sp>
      <p:sp>
        <p:nvSpPr>
          <p:cNvPr id="8" name="Text 6"/>
          <p:cNvSpPr txBox="1"/>
          <p:nvPr/>
        </p:nvSpPr>
        <p:spPr>
          <a:xfrm>
            <a:off x="868680" y="2816352"/>
            <a:ext cx="4023360" cy="914400"/>
          </a:xfrm>
          <a:prstGeom prst="rect">
            <a:avLst/>
          </a:prstGeom>
          <a:noFill/>
          <a:ln/>
        </p:spPr>
        <p:txBody>
          <a:bodyPr wrap="square" lIns="0" tIns="0" rIns="0" bIns="0" rtlCol="0" anchor="ctr"/>
          <a:lstStyle/>
          <a:p>
            <a:pPr marL="0" indent="0">
              <a:lnSpc>
                <a:spcPts val="1900"/>
              </a:lnSpc>
              <a:buNone/>
            </a:pPr>
            <a:r>
              <a:rPr lang="en-US" sz="1600" dirty="0">
                <a:solidFill>
                  <a:srgbClr val="1B2437"/>
                </a:solidFill>
                <a:latin typeface="Courier New" pitchFamily="34" charset="0"/>
                <a:ea typeface="Courier New" pitchFamily="34" charset="-122"/>
                <a:cs typeface="Courier New" pitchFamily="34" charset="-120"/>
              </a:rPr>
              <a:t>μ_Cool(27) = 0</a:t>
            </a:r>
            <a:endParaRPr lang="en-US" sz="1600" dirty="0"/>
          </a:p>
          <a:p>
            <a:pPr marL="0" indent="0">
              <a:lnSpc>
                <a:spcPts val="1900"/>
              </a:lnSpc>
              <a:buNone/>
            </a:pPr>
            <a:r>
              <a:rPr lang="en-US" sz="1600" b="1" dirty="0">
                <a:solidFill>
                  <a:srgbClr val="E3963E"/>
                </a:solidFill>
                <a:latin typeface="Courier New" pitchFamily="34" charset="0"/>
                <a:ea typeface="Courier New" pitchFamily="34" charset="-122"/>
                <a:cs typeface="Courier New" pitchFamily="34" charset="-120"/>
              </a:rPr>
              <a:t>μ_Warm(27) = (30 − 27) / 5 = 0.6</a:t>
            </a:r>
            <a:endParaRPr lang="en-US" sz="1600" dirty="0"/>
          </a:p>
          <a:p>
            <a:pPr marL="0" indent="0">
              <a:lnSpc>
                <a:spcPts val="1900"/>
              </a:lnSpc>
              <a:buNone/>
            </a:pPr>
            <a:r>
              <a:rPr lang="en-US" sz="1600" b="1" dirty="0">
                <a:solidFill>
                  <a:srgbClr val="C05A5A"/>
                </a:solidFill>
                <a:latin typeface="Courier New" pitchFamily="34" charset="0"/>
                <a:ea typeface="Courier New" pitchFamily="34" charset="-122"/>
                <a:cs typeface="Courier New" pitchFamily="34" charset="-120"/>
              </a:rPr>
              <a:t>μ_Hot(27)  = (27 − 25) / 5 = 0.4</a:t>
            </a:r>
            <a:endParaRPr lang="en-US" sz="1600" dirty="0"/>
          </a:p>
        </p:txBody>
      </p:sp>
      <p:sp>
        <p:nvSpPr>
          <p:cNvPr id="9" name="Text 7"/>
          <p:cNvSpPr txBox="1"/>
          <p:nvPr/>
        </p:nvSpPr>
        <p:spPr>
          <a:xfrm>
            <a:off x="868680" y="3794760"/>
            <a:ext cx="4023360" cy="256032"/>
          </a:xfrm>
          <a:prstGeom prst="rect">
            <a:avLst/>
          </a:prstGeom>
          <a:noFill/>
          <a:ln/>
        </p:spPr>
        <p:txBody>
          <a:bodyPr wrap="square" lIns="0" tIns="0" rIns="0" bIns="0" rtlCol="0" anchor="ctr"/>
          <a:lstStyle/>
          <a:p>
            <a:pPr marL="0" indent="0">
              <a:buNone/>
            </a:pPr>
            <a:r>
              <a:rPr lang="en-US" sz="1400" b="1" dirty="0">
                <a:solidFill>
                  <a:srgbClr val="6B7A99"/>
                </a:solidFill>
                <a:latin typeface="Calibri" pitchFamily="34" charset="0"/>
                <a:ea typeface="Calibri" pitchFamily="34" charset="-122"/>
                <a:cs typeface="Calibri" pitchFamily="34" charset="-120"/>
              </a:rPr>
              <a:t>Humidity — triangles (0,25,50) (25,50,75) (50,75,100)</a:t>
            </a:r>
            <a:endParaRPr lang="en-US" sz="1400" dirty="0"/>
          </a:p>
        </p:txBody>
      </p:sp>
      <p:sp>
        <p:nvSpPr>
          <p:cNvPr id="10" name="Text 8"/>
          <p:cNvSpPr txBox="1"/>
          <p:nvPr/>
        </p:nvSpPr>
        <p:spPr>
          <a:xfrm>
            <a:off x="868680" y="4069080"/>
            <a:ext cx="4225834" cy="914400"/>
          </a:xfrm>
          <a:prstGeom prst="rect">
            <a:avLst/>
          </a:prstGeom>
          <a:noFill/>
          <a:ln/>
        </p:spPr>
        <p:txBody>
          <a:bodyPr wrap="square" lIns="0" tIns="0" rIns="0" bIns="0" rtlCol="0" anchor="ctr"/>
          <a:lstStyle/>
          <a:p>
            <a:pPr marL="0" indent="0">
              <a:lnSpc>
                <a:spcPts val="1900"/>
              </a:lnSpc>
              <a:buNone/>
            </a:pPr>
            <a:r>
              <a:rPr lang="en-US" sz="1600" dirty="0">
                <a:solidFill>
                  <a:srgbClr val="1B2437"/>
                </a:solidFill>
                <a:latin typeface="Courier New" pitchFamily="34" charset="0"/>
                <a:ea typeface="Courier New" pitchFamily="34" charset="-122"/>
                <a:cs typeface="Courier New" pitchFamily="34" charset="-120"/>
              </a:rPr>
              <a:t>μ_Low(65)  = 0</a:t>
            </a:r>
            <a:endParaRPr lang="en-US" sz="1600" dirty="0"/>
          </a:p>
          <a:p>
            <a:pPr marL="0" indent="0">
              <a:lnSpc>
                <a:spcPts val="1900"/>
              </a:lnSpc>
              <a:buNone/>
            </a:pPr>
            <a:r>
              <a:rPr lang="en-US" sz="1600" b="1" dirty="0">
                <a:solidFill>
                  <a:srgbClr val="E3963E"/>
                </a:solidFill>
                <a:latin typeface="Courier New" pitchFamily="34" charset="0"/>
                <a:ea typeface="Courier New" pitchFamily="34" charset="-122"/>
                <a:cs typeface="Courier New" pitchFamily="34" charset="-120"/>
              </a:rPr>
              <a:t>μ_Med(65)  = (75 − 65) / 25 = 0.4</a:t>
            </a:r>
            <a:endParaRPr lang="en-US" sz="1600" dirty="0"/>
          </a:p>
          <a:p>
            <a:pPr marL="0" indent="0">
              <a:lnSpc>
                <a:spcPts val="1900"/>
              </a:lnSpc>
              <a:buNone/>
            </a:pPr>
            <a:r>
              <a:rPr lang="en-US" sz="1600" b="1" dirty="0">
                <a:solidFill>
                  <a:srgbClr val="C05A5A"/>
                </a:solidFill>
                <a:latin typeface="Courier New" pitchFamily="34" charset="0"/>
                <a:ea typeface="Courier New" pitchFamily="34" charset="-122"/>
                <a:cs typeface="Courier New" pitchFamily="34" charset="-120"/>
              </a:rPr>
              <a:t>μ_High(65) = (65 − 50) / 25 = 0.6</a:t>
            </a:r>
            <a:endParaRPr lang="en-US" sz="1600" dirty="0"/>
          </a:p>
        </p:txBody>
      </p:sp>
      <p:sp>
        <p:nvSpPr>
          <p:cNvPr id="11" name="Shape 9"/>
          <p:cNvSpPr/>
          <p:nvPr/>
        </p:nvSpPr>
        <p:spPr>
          <a:xfrm>
            <a:off x="868680" y="5074920"/>
            <a:ext cx="4023360" cy="548640"/>
          </a:xfrm>
          <a:prstGeom prst="roundRect">
            <a:avLst>
              <a:gd name="adj" fmla="val 13333"/>
            </a:avLst>
          </a:prstGeom>
          <a:solidFill>
            <a:srgbClr val="E7F2F0"/>
          </a:solidFill>
          <a:ln/>
        </p:spPr>
      </p:sp>
      <p:sp>
        <p:nvSpPr>
          <p:cNvPr id="12" name="Text 10"/>
          <p:cNvSpPr txBox="1"/>
          <p:nvPr/>
        </p:nvSpPr>
        <p:spPr>
          <a:xfrm>
            <a:off x="1005840" y="5148072"/>
            <a:ext cx="3749040" cy="411480"/>
          </a:xfrm>
          <a:prstGeom prst="rect">
            <a:avLst/>
          </a:prstGeom>
          <a:noFill/>
          <a:ln/>
        </p:spPr>
        <p:txBody>
          <a:bodyPr wrap="square" lIns="0" tIns="0" rIns="0" bIns="0" rtlCol="0" anchor="ctr"/>
          <a:lstStyle/>
          <a:p>
            <a:pPr marL="0" indent="0">
              <a:buNone/>
            </a:pPr>
            <a:r>
              <a:rPr lang="en-US" i="1" dirty="0">
                <a:solidFill>
                  <a:srgbClr val="1F6B60"/>
                </a:solidFill>
                <a:latin typeface="Calibri" pitchFamily="34" charset="0"/>
                <a:ea typeface="Calibri" pitchFamily="34" charset="-122"/>
                <a:cs typeface="Calibri" pitchFamily="34" charset="-120"/>
              </a:rPr>
              <a:t>Two crisp numbers have become four non-zero memberships.</a:t>
            </a:r>
            <a:endParaRPr lang="en-US" dirty="0"/>
          </a:p>
        </p:txBody>
      </p:sp>
      <p:sp>
        <p:nvSpPr>
          <p:cNvPr id="13" name="Text 11"/>
          <p:cNvSpPr txBox="1"/>
          <p:nvPr/>
        </p:nvSpPr>
        <p:spPr>
          <a:xfrm>
            <a:off x="5486400" y="1627632"/>
            <a:ext cx="6126480" cy="274320"/>
          </a:xfrm>
          <a:prstGeom prst="rect">
            <a:avLst/>
          </a:prstGeom>
          <a:noFill/>
          <a:ln/>
        </p:spPr>
        <p:txBody>
          <a:bodyPr wrap="square" lIns="0" tIns="0" rIns="0" bIns="0" rtlCol="0" anchor="ctr"/>
          <a:lstStyle/>
          <a:p>
            <a:pPr marL="0" indent="0">
              <a:buNone/>
            </a:pPr>
            <a:r>
              <a:rPr lang="en-US" b="1" dirty="0">
                <a:solidFill>
                  <a:srgbClr val="2F4368"/>
                </a:solidFill>
                <a:latin typeface="Calibri" pitchFamily="34" charset="0"/>
                <a:ea typeface="Calibri" pitchFamily="34" charset="-122"/>
                <a:cs typeface="Calibri" pitchFamily="34" charset="-120"/>
              </a:rPr>
              <a:t>Step 2 — firing strength of each rule,  α = min(antecedents)</a:t>
            </a:r>
            <a:endParaRPr lang="en-US" dirty="0"/>
          </a:p>
        </p:txBody>
      </p:sp>
      <p:sp>
        <p:nvSpPr>
          <p:cNvPr id="14" name="Shape 12"/>
          <p:cNvSpPr/>
          <p:nvPr/>
        </p:nvSpPr>
        <p:spPr>
          <a:xfrm>
            <a:off x="5486400" y="1993392"/>
            <a:ext cx="6126480" cy="365760"/>
          </a:xfrm>
          <a:prstGeom prst="rect">
            <a:avLst/>
          </a:prstGeom>
          <a:solidFill>
            <a:srgbClr val="2F4368"/>
          </a:solidFill>
          <a:ln/>
        </p:spPr>
      </p:sp>
      <p:sp>
        <p:nvSpPr>
          <p:cNvPr id="15" name="Text 13"/>
          <p:cNvSpPr txBox="1"/>
          <p:nvPr/>
        </p:nvSpPr>
        <p:spPr>
          <a:xfrm>
            <a:off x="5559552" y="1993392"/>
            <a:ext cx="365760" cy="365760"/>
          </a:xfrm>
          <a:prstGeom prst="rect">
            <a:avLst/>
          </a:prstGeom>
          <a:noFill/>
          <a:ln/>
        </p:spPr>
        <p:txBody>
          <a:bodyPr wrap="square" lIns="0" tIns="0" rIns="0" bIns="0" rtlCol="0" anchor="ctr"/>
          <a:lstStyle/>
          <a:p>
            <a:pPr marL="0" indent="0">
              <a:buNone/>
            </a:pPr>
            <a:endParaRPr lang="en-US" sz="1050" dirty="0"/>
          </a:p>
        </p:txBody>
      </p:sp>
      <p:sp>
        <p:nvSpPr>
          <p:cNvPr id="16" name="Text 14"/>
          <p:cNvSpPr txBox="1"/>
          <p:nvPr/>
        </p:nvSpPr>
        <p:spPr>
          <a:xfrm>
            <a:off x="6016752" y="1993392"/>
            <a:ext cx="10058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IF temp is</a:t>
            </a:r>
            <a:endParaRPr lang="en-US" sz="1400" dirty="0"/>
          </a:p>
        </p:txBody>
      </p:sp>
      <p:sp>
        <p:nvSpPr>
          <p:cNvPr id="17" name="Text 15"/>
          <p:cNvSpPr txBox="1"/>
          <p:nvPr/>
        </p:nvSpPr>
        <p:spPr>
          <a:xfrm>
            <a:off x="7114032" y="1993392"/>
            <a:ext cx="12801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AND humidity is</a:t>
            </a:r>
            <a:endParaRPr lang="en-US" sz="1400" dirty="0"/>
          </a:p>
        </p:txBody>
      </p:sp>
      <p:sp>
        <p:nvSpPr>
          <p:cNvPr id="18" name="Text 16"/>
          <p:cNvSpPr txBox="1"/>
          <p:nvPr/>
        </p:nvSpPr>
        <p:spPr>
          <a:xfrm>
            <a:off x="8485632" y="1989660"/>
            <a:ext cx="1076379"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THEN fan is</a:t>
            </a:r>
            <a:endParaRPr lang="en-US" sz="1400" dirty="0"/>
          </a:p>
        </p:txBody>
      </p:sp>
      <p:sp>
        <p:nvSpPr>
          <p:cNvPr id="19" name="Text 17"/>
          <p:cNvSpPr txBox="1"/>
          <p:nvPr/>
        </p:nvSpPr>
        <p:spPr>
          <a:xfrm>
            <a:off x="9765792" y="1993392"/>
            <a:ext cx="17373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firing strength α</a:t>
            </a:r>
            <a:endParaRPr lang="en-US" sz="1400" dirty="0"/>
          </a:p>
        </p:txBody>
      </p:sp>
      <p:sp>
        <p:nvSpPr>
          <p:cNvPr id="20" name="Shape 18"/>
          <p:cNvSpPr/>
          <p:nvPr/>
        </p:nvSpPr>
        <p:spPr>
          <a:xfrm>
            <a:off x="5486400" y="2359152"/>
            <a:ext cx="6126480" cy="566928"/>
          </a:xfrm>
          <a:prstGeom prst="rect">
            <a:avLst/>
          </a:prstGeom>
          <a:solidFill>
            <a:srgbClr val="FFFFFF"/>
          </a:solidFill>
          <a:ln w="9525">
            <a:solidFill>
              <a:srgbClr val="E2E7F1"/>
            </a:solidFill>
            <a:prstDash val="solid"/>
          </a:ln>
        </p:spPr>
      </p:sp>
      <p:sp>
        <p:nvSpPr>
          <p:cNvPr id="21" name="Text 19"/>
          <p:cNvSpPr txBox="1"/>
          <p:nvPr/>
        </p:nvSpPr>
        <p:spPr>
          <a:xfrm>
            <a:off x="5559552" y="2359152"/>
            <a:ext cx="365760" cy="566928"/>
          </a:xfrm>
          <a:prstGeom prst="rect">
            <a:avLst/>
          </a:prstGeom>
          <a:noFill/>
          <a:ln/>
        </p:spPr>
        <p:txBody>
          <a:bodyPr wrap="square" lIns="0" tIns="0" rIns="0" bIns="0" rtlCol="0" anchor="ctr"/>
          <a:lstStyle/>
          <a:p>
            <a:pPr marL="0" indent="0">
              <a:buNone/>
            </a:pPr>
            <a:r>
              <a:rPr lang="en-US" sz="1400" b="1" dirty="0">
                <a:solidFill>
                  <a:srgbClr val="1B2437"/>
                </a:solidFill>
                <a:latin typeface="Calibri" pitchFamily="34" charset="0"/>
                <a:ea typeface="Calibri" pitchFamily="34" charset="-122"/>
                <a:cs typeface="Calibri" pitchFamily="34" charset="-120"/>
              </a:rPr>
              <a:t>R1</a:t>
            </a:r>
            <a:endParaRPr lang="en-US" sz="1400" dirty="0"/>
          </a:p>
        </p:txBody>
      </p:sp>
      <p:sp>
        <p:nvSpPr>
          <p:cNvPr id="22" name="Text 20"/>
          <p:cNvSpPr txBox="1"/>
          <p:nvPr/>
        </p:nvSpPr>
        <p:spPr>
          <a:xfrm>
            <a:off x="6016752" y="2359152"/>
            <a:ext cx="100584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Warm</a:t>
            </a:r>
            <a:endParaRPr lang="en-US" sz="1400" dirty="0"/>
          </a:p>
        </p:txBody>
      </p:sp>
      <p:sp>
        <p:nvSpPr>
          <p:cNvPr id="23" name="Text 21"/>
          <p:cNvSpPr txBox="1"/>
          <p:nvPr/>
        </p:nvSpPr>
        <p:spPr>
          <a:xfrm>
            <a:off x="7114032" y="2359152"/>
            <a:ext cx="118872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Medium</a:t>
            </a:r>
            <a:endParaRPr lang="en-US" sz="1400" dirty="0"/>
          </a:p>
        </p:txBody>
      </p:sp>
      <p:sp>
        <p:nvSpPr>
          <p:cNvPr id="24" name="Text 22"/>
          <p:cNvSpPr txBox="1"/>
          <p:nvPr/>
        </p:nvSpPr>
        <p:spPr>
          <a:xfrm>
            <a:off x="8394192" y="2359152"/>
            <a:ext cx="128016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Medium (55%)</a:t>
            </a:r>
            <a:endParaRPr lang="en-US" sz="1400" dirty="0"/>
          </a:p>
        </p:txBody>
      </p:sp>
      <p:sp>
        <p:nvSpPr>
          <p:cNvPr id="25" name="Text 23"/>
          <p:cNvSpPr txBox="1"/>
          <p:nvPr/>
        </p:nvSpPr>
        <p:spPr>
          <a:xfrm>
            <a:off x="9765792" y="2359152"/>
            <a:ext cx="1737360" cy="566928"/>
          </a:xfrm>
          <a:prstGeom prst="rect">
            <a:avLst/>
          </a:prstGeom>
          <a:noFill/>
          <a:ln/>
        </p:spPr>
        <p:txBody>
          <a:bodyPr wrap="square" lIns="0" tIns="0" rIns="0" bIns="0" rtlCol="0" anchor="ctr"/>
          <a:lstStyle/>
          <a:p>
            <a:pPr marL="0" indent="0">
              <a:buNone/>
            </a:pPr>
            <a:r>
              <a:rPr lang="en-US" sz="1400" b="1" dirty="0">
                <a:solidFill>
                  <a:srgbClr val="1B2437"/>
                </a:solidFill>
                <a:latin typeface="Courier New" pitchFamily="34" charset="0"/>
                <a:ea typeface="Courier New" pitchFamily="34" charset="-122"/>
                <a:cs typeface="Courier New" pitchFamily="34" charset="-120"/>
              </a:rPr>
              <a:t>min(0.6, 0.4) = 0.4</a:t>
            </a:r>
            <a:endParaRPr lang="en-US" sz="1400" dirty="0"/>
          </a:p>
        </p:txBody>
      </p:sp>
      <p:sp>
        <p:nvSpPr>
          <p:cNvPr id="26" name="Shape 24"/>
          <p:cNvSpPr/>
          <p:nvPr/>
        </p:nvSpPr>
        <p:spPr>
          <a:xfrm>
            <a:off x="5486400" y="2926080"/>
            <a:ext cx="6126480" cy="566928"/>
          </a:xfrm>
          <a:prstGeom prst="rect">
            <a:avLst/>
          </a:prstGeom>
          <a:solidFill>
            <a:srgbClr val="F3F5FA"/>
          </a:solidFill>
          <a:ln w="9525">
            <a:solidFill>
              <a:srgbClr val="E2E7F1"/>
            </a:solidFill>
            <a:prstDash val="solid"/>
          </a:ln>
        </p:spPr>
      </p:sp>
      <p:sp>
        <p:nvSpPr>
          <p:cNvPr id="27" name="Text 25"/>
          <p:cNvSpPr txBox="1"/>
          <p:nvPr/>
        </p:nvSpPr>
        <p:spPr>
          <a:xfrm>
            <a:off x="5559552" y="2926080"/>
            <a:ext cx="365760" cy="566928"/>
          </a:xfrm>
          <a:prstGeom prst="rect">
            <a:avLst/>
          </a:prstGeom>
          <a:noFill/>
          <a:ln/>
        </p:spPr>
        <p:txBody>
          <a:bodyPr wrap="square" lIns="0" tIns="0" rIns="0" bIns="0" rtlCol="0" anchor="ctr"/>
          <a:lstStyle/>
          <a:p>
            <a:pPr marL="0" indent="0">
              <a:buNone/>
            </a:pPr>
            <a:r>
              <a:rPr lang="en-US" sz="1400" b="1" dirty="0">
                <a:solidFill>
                  <a:srgbClr val="1B2437"/>
                </a:solidFill>
                <a:latin typeface="Calibri" pitchFamily="34" charset="0"/>
                <a:ea typeface="Calibri" pitchFamily="34" charset="-122"/>
                <a:cs typeface="Calibri" pitchFamily="34" charset="-120"/>
              </a:rPr>
              <a:t>R2</a:t>
            </a:r>
            <a:endParaRPr lang="en-US" sz="1400" dirty="0"/>
          </a:p>
        </p:txBody>
      </p:sp>
      <p:sp>
        <p:nvSpPr>
          <p:cNvPr id="28" name="Text 26"/>
          <p:cNvSpPr txBox="1"/>
          <p:nvPr/>
        </p:nvSpPr>
        <p:spPr>
          <a:xfrm>
            <a:off x="6016752" y="2926080"/>
            <a:ext cx="100584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Warm</a:t>
            </a:r>
            <a:endParaRPr lang="en-US" sz="1400" dirty="0"/>
          </a:p>
        </p:txBody>
      </p:sp>
      <p:sp>
        <p:nvSpPr>
          <p:cNvPr id="29" name="Text 27"/>
          <p:cNvSpPr txBox="1"/>
          <p:nvPr/>
        </p:nvSpPr>
        <p:spPr>
          <a:xfrm>
            <a:off x="7114032" y="2926080"/>
            <a:ext cx="118872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High</a:t>
            </a:r>
            <a:endParaRPr lang="en-US" sz="1400" dirty="0"/>
          </a:p>
        </p:txBody>
      </p:sp>
      <p:sp>
        <p:nvSpPr>
          <p:cNvPr id="30" name="Text 28"/>
          <p:cNvSpPr txBox="1"/>
          <p:nvPr/>
        </p:nvSpPr>
        <p:spPr>
          <a:xfrm>
            <a:off x="8394192" y="2926080"/>
            <a:ext cx="128016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High (85%)</a:t>
            </a:r>
            <a:endParaRPr lang="en-US" sz="1400" dirty="0"/>
          </a:p>
        </p:txBody>
      </p:sp>
      <p:sp>
        <p:nvSpPr>
          <p:cNvPr id="31" name="Text 29"/>
          <p:cNvSpPr txBox="1"/>
          <p:nvPr/>
        </p:nvSpPr>
        <p:spPr>
          <a:xfrm>
            <a:off x="9765792" y="2926080"/>
            <a:ext cx="1737360" cy="566928"/>
          </a:xfrm>
          <a:prstGeom prst="rect">
            <a:avLst/>
          </a:prstGeom>
          <a:noFill/>
          <a:ln/>
        </p:spPr>
        <p:txBody>
          <a:bodyPr wrap="square" lIns="0" tIns="0" rIns="0" bIns="0" rtlCol="0" anchor="ctr"/>
          <a:lstStyle/>
          <a:p>
            <a:pPr marL="0" indent="0">
              <a:buNone/>
            </a:pPr>
            <a:r>
              <a:rPr lang="en-US" sz="1400" b="1" dirty="0">
                <a:solidFill>
                  <a:srgbClr val="C05A5A"/>
                </a:solidFill>
                <a:latin typeface="Courier New" pitchFamily="34" charset="0"/>
                <a:ea typeface="Courier New" pitchFamily="34" charset="-122"/>
                <a:cs typeface="Courier New" pitchFamily="34" charset="-120"/>
              </a:rPr>
              <a:t>min(0.6, 0.6) = 0.6</a:t>
            </a:r>
            <a:endParaRPr lang="en-US" sz="1400" dirty="0"/>
          </a:p>
        </p:txBody>
      </p:sp>
      <p:sp>
        <p:nvSpPr>
          <p:cNvPr id="32" name="Shape 30"/>
          <p:cNvSpPr/>
          <p:nvPr/>
        </p:nvSpPr>
        <p:spPr>
          <a:xfrm>
            <a:off x="5486400" y="3493008"/>
            <a:ext cx="6126480" cy="566928"/>
          </a:xfrm>
          <a:prstGeom prst="rect">
            <a:avLst/>
          </a:prstGeom>
          <a:solidFill>
            <a:srgbClr val="FFFFFF"/>
          </a:solidFill>
          <a:ln w="9525">
            <a:solidFill>
              <a:srgbClr val="E2E7F1"/>
            </a:solidFill>
            <a:prstDash val="solid"/>
          </a:ln>
        </p:spPr>
      </p:sp>
      <p:sp>
        <p:nvSpPr>
          <p:cNvPr id="33" name="Text 31"/>
          <p:cNvSpPr txBox="1"/>
          <p:nvPr/>
        </p:nvSpPr>
        <p:spPr>
          <a:xfrm>
            <a:off x="5559552" y="3493008"/>
            <a:ext cx="365760" cy="566928"/>
          </a:xfrm>
          <a:prstGeom prst="rect">
            <a:avLst/>
          </a:prstGeom>
          <a:noFill/>
          <a:ln/>
        </p:spPr>
        <p:txBody>
          <a:bodyPr wrap="square" lIns="0" tIns="0" rIns="0" bIns="0" rtlCol="0" anchor="ctr"/>
          <a:lstStyle/>
          <a:p>
            <a:pPr marL="0" indent="0">
              <a:buNone/>
            </a:pPr>
            <a:r>
              <a:rPr lang="en-US" sz="1400" b="1" dirty="0">
                <a:solidFill>
                  <a:srgbClr val="1B2437"/>
                </a:solidFill>
                <a:latin typeface="Calibri" pitchFamily="34" charset="0"/>
                <a:ea typeface="Calibri" pitchFamily="34" charset="-122"/>
                <a:cs typeface="Calibri" pitchFamily="34" charset="-120"/>
              </a:rPr>
              <a:t>R3</a:t>
            </a:r>
            <a:endParaRPr lang="en-US" sz="1400" dirty="0"/>
          </a:p>
        </p:txBody>
      </p:sp>
      <p:sp>
        <p:nvSpPr>
          <p:cNvPr id="34" name="Text 32"/>
          <p:cNvSpPr txBox="1"/>
          <p:nvPr/>
        </p:nvSpPr>
        <p:spPr>
          <a:xfrm>
            <a:off x="6016752" y="3493008"/>
            <a:ext cx="100584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Hot</a:t>
            </a:r>
            <a:endParaRPr lang="en-US" sz="1400" dirty="0"/>
          </a:p>
        </p:txBody>
      </p:sp>
      <p:sp>
        <p:nvSpPr>
          <p:cNvPr id="35" name="Text 33"/>
          <p:cNvSpPr txBox="1"/>
          <p:nvPr/>
        </p:nvSpPr>
        <p:spPr>
          <a:xfrm>
            <a:off x="7114032" y="3493008"/>
            <a:ext cx="118872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Medium</a:t>
            </a:r>
            <a:endParaRPr lang="en-US" sz="1400" dirty="0"/>
          </a:p>
        </p:txBody>
      </p:sp>
      <p:sp>
        <p:nvSpPr>
          <p:cNvPr id="36" name="Text 34"/>
          <p:cNvSpPr txBox="1"/>
          <p:nvPr/>
        </p:nvSpPr>
        <p:spPr>
          <a:xfrm>
            <a:off x="8394192" y="3493008"/>
            <a:ext cx="128016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High (85%)</a:t>
            </a:r>
            <a:endParaRPr lang="en-US" sz="1400" dirty="0"/>
          </a:p>
        </p:txBody>
      </p:sp>
      <p:sp>
        <p:nvSpPr>
          <p:cNvPr id="37" name="Text 35"/>
          <p:cNvSpPr txBox="1"/>
          <p:nvPr/>
        </p:nvSpPr>
        <p:spPr>
          <a:xfrm>
            <a:off x="9765792" y="3493008"/>
            <a:ext cx="1737360" cy="566928"/>
          </a:xfrm>
          <a:prstGeom prst="rect">
            <a:avLst/>
          </a:prstGeom>
          <a:noFill/>
          <a:ln/>
        </p:spPr>
        <p:txBody>
          <a:bodyPr wrap="square" lIns="0" tIns="0" rIns="0" bIns="0" rtlCol="0" anchor="ctr"/>
          <a:lstStyle/>
          <a:p>
            <a:pPr marL="0" indent="0">
              <a:buNone/>
            </a:pPr>
            <a:r>
              <a:rPr lang="en-US" sz="1400" b="1" dirty="0">
                <a:solidFill>
                  <a:srgbClr val="1B2437"/>
                </a:solidFill>
                <a:latin typeface="Courier New" pitchFamily="34" charset="0"/>
                <a:ea typeface="Courier New" pitchFamily="34" charset="-122"/>
                <a:cs typeface="Courier New" pitchFamily="34" charset="-120"/>
              </a:rPr>
              <a:t>min(0.4, 0.4) = 0.4</a:t>
            </a:r>
            <a:endParaRPr lang="en-US" sz="1400" dirty="0"/>
          </a:p>
        </p:txBody>
      </p:sp>
      <p:sp>
        <p:nvSpPr>
          <p:cNvPr id="38" name="Shape 36"/>
          <p:cNvSpPr/>
          <p:nvPr/>
        </p:nvSpPr>
        <p:spPr>
          <a:xfrm>
            <a:off x="5486400" y="4059936"/>
            <a:ext cx="6126480" cy="566928"/>
          </a:xfrm>
          <a:prstGeom prst="rect">
            <a:avLst/>
          </a:prstGeom>
          <a:solidFill>
            <a:srgbClr val="F3F5FA"/>
          </a:solidFill>
          <a:ln w="9525">
            <a:solidFill>
              <a:srgbClr val="E2E7F1"/>
            </a:solidFill>
            <a:prstDash val="solid"/>
          </a:ln>
        </p:spPr>
      </p:sp>
      <p:sp>
        <p:nvSpPr>
          <p:cNvPr id="39" name="Text 37"/>
          <p:cNvSpPr txBox="1"/>
          <p:nvPr/>
        </p:nvSpPr>
        <p:spPr>
          <a:xfrm>
            <a:off x="5559552" y="4059936"/>
            <a:ext cx="365760" cy="566928"/>
          </a:xfrm>
          <a:prstGeom prst="rect">
            <a:avLst/>
          </a:prstGeom>
          <a:noFill/>
          <a:ln/>
        </p:spPr>
        <p:txBody>
          <a:bodyPr wrap="square" lIns="0" tIns="0" rIns="0" bIns="0" rtlCol="0" anchor="ctr"/>
          <a:lstStyle/>
          <a:p>
            <a:pPr marL="0" indent="0">
              <a:buNone/>
            </a:pPr>
            <a:r>
              <a:rPr lang="en-US" sz="1400" b="1" dirty="0">
                <a:solidFill>
                  <a:srgbClr val="1B2437"/>
                </a:solidFill>
                <a:latin typeface="Calibri" pitchFamily="34" charset="0"/>
                <a:ea typeface="Calibri" pitchFamily="34" charset="-122"/>
                <a:cs typeface="Calibri" pitchFamily="34" charset="-120"/>
              </a:rPr>
              <a:t>R4</a:t>
            </a:r>
            <a:endParaRPr lang="en-US" sz="1400" dirty="0"/>
          </a:p>
        </p:txBody>
      </p:sp>
      <p:sp>
        <p:nvSpPr>
          <p:cNvPr id="40" name="Text 38"/>
          <p:cNvSpPr txBox="1"/>
          <p:nvPr/>
        </p:nvSpPr>
        <p:spPr>
          <a:xfrm>
            <a:off x="6016752" y="4059936"/>
            <a:ext cx="100584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Hot</a:t>
            </a:r>
            <a:endParaRPr lang="en-US" sz="1400" dirty="0"/>
          </a:p>
        </p:txBody>
      </p:sp>
      <p:sp>
        <p:nvSpPr>
          <p:cNvPr id="41" name="Text 39"/>
          <p:cNvSpPr txBox="1"/>
          <p:nvPr/>
        </p:nvSpPr>
        <p:spPr>
          <a:xfrm>
            <a:off x="7114032" y="4059936"/>
            <a:ext cx="118872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High</a:t>
            </a:r>
            <a:endParaRPr lang="en-US" sz="1400" dirty="0"/>
          </a:p>
        </p:txBody>
      </p:sp>
      <p:sp>
        <p:nvSpPr>
          <p:cNvPr id="42" name="Text 40"/>
          <p:cNvSpPr txBox="1"/>
          <p:nvPr/>
        </p:nvSpPr>
        <p:spPr>
          <a:xfrm>
            <a:off x="8394192" y="4059936"/>
            <a:ext cx="1280160" cy="566928"/>
          </a:xfrm>
          <a:prstGeom prst="rect">
            <a:avLst/>
          </a:prstGeom>
          <a:noFill/>
          <a:ln/>
        </p:spPr>
        <p:txBody>
          <a:bodyPr wrap="square" lIns="0" tIns="0" rIns="0" bIns="0" rtlCol="0" anchor="ctr"/>
          <a:lstStyle/>
          <a:p>
            <a:pPr marL="0" indent="0">
              <a:buNone/>
            </a:pPr>
            <a:r>
              <a:rPr lang="en-US" sz="1400" dirty="0">
                <a:solidFill>
                  <a:srgbClr val="1B2437"/>
                </a:solidFill>
                <a:latin typeface="Calibri" pitchFamily="34" charset="0"/>
                <a:ea typeface="Calibri" pitchFamily="34" charset="-122"/>
                <a:cs typeface="Calibri" pitchFamily="34" charset="-120"/>
              </a:rPr>
              <a:t>Max (100%)</a:t>
            </a:r>
            <a:endParaRPr lang="en-US" sz="1400" dirty="0"/>
          </a:p>
        </p:txBody>
      </p:sp>
      <p:sp>
        <p:nvSpPr>
          <p:cNvPr id="43" name="Text 41"/>
          <p:cNvSpPr txBox="1"/>
          <p:nvPr/>
        </p:nvSpPr>
        <p:spPr>
          <a:xfrm>
            <a:off x="9765792" y="4059936"/>
            <a:ext cx="1737360" cy="566928"/>
          </a:xfrm>
          <a:prstGeom prst="rect">
            <a:avLst/>
          </a:prstGeom>
          <a:noFill/>
          <a:ln/>
        </p:spPr>
        <p:txBody>
          <a:bodyPr wrap="square" lIns="0" tIns="0" rIns="0" bIns="0" rtlCol="0" anchor="ctr"/>
          <a:lstStyle/>
          <a:p>
            <a:pPr marL="0" indent="0">
              <a:buNone/>
            </a:pPr>
            <a:r>
              <a:rPr lang="en-US" sz="1400" b="1" dirty="0">
                <a:solidFill>
                  <a:srgbClr val="1B2437"/>
                </a:solidFill>
                <a:latin typeface="Courier New" pitchFamily="34" charset="0"/>
                <a:ea typeface="Courier New" pitchFamily="34" charset="-122"/>
                <a:cs typeface="Courier New" pitchFamily="34" charset="-120"/>
              </a:rPr>
              <a:t>min(0.4, 0.6) = 0.4</a:t>
            </a:r>
            <a:endParaRPr lang="en-US" sz="1400" dirty="0"/>
          </a:p>
        </p:txBody>
      </p:sp>
      <p:sp>
        <p:nvSpPr>
          <p:cNvPr id="44" name="Shape 42"/>
          <p:cNvSpPr/>
          <p:nvPr/>
        </p:nvSpPr>
        <p:spPr>
          <a:xfrm>
            <a:off x="5486400" y="4828032"/>
            <a:ext cx="6126480" cy="960120"/>
          </a:xfrm>
          <a:prstGeom prst="roundRect">
            <a:avLst>
              <a:gd name="adj" fmla="val 9524"/>
            </a:avLst>
          </a:prstGeom>
          <a:solidFill>
            <a:srgbClr val="FDF3E4"/>
          </a:solidFill>
          <a:ln w="19050">
            <a:solidFill>
              <a:srgbClr val="E3963E"/>
            </a:solidFill>
            <a:prstDash val="solid"/>
          </a:ln>
        </p:spPr>
      </p:sp>
      <p:sp>
        <p:nvSpPr>
          <p:cNvPr id="45" name="Text 43"/>
          <p:cNvSpPr txBox="1"/>
          <p:nvPr/>
        </p:nvSpPr>
        <p:spPr>
          <a:xfrm>
            <a:off x="5669280" y="4937760"/>
            <a:ext cx="5760720" cy="777240"/>
          </a:xfrm>
          <a:prstGeom prst="rect">
            <a:avLst/>
          </a:prstGeom>
          <a:noFill/>
          <a:ln/>
        </p:spPr>
        <p:txBody>
          <a:bodyPr wrap="square" lIns="0" tIns="0" rIns="0" bIns="0" rtlCol="0" anchor="ctr"/>
          <a:lstStyle/>
          <a:p>
            <a:pPr marL="0" indent="0">
              <a:lnSpc>
                <a:spcPts val="1600"/>
              </a:lnSpc>
              <a:buNone/>
            </a:pPr>
            <a:r>
              <a:rPr lang="en-US" sz="1600" dirty="0">
                <a:solidFill>
                  <a:srgbClr val="6B4A16"/>
                </a:solidFill>
                <a:latin typeface="Calibri" pitchFamily="34" charset="0"/>
                <a:ea typeface="Calibri" pitchFamily="34" charset="-122"/>
                <a:cs typeface="Calibri" pitchFamily="34" charset="-120"/>
              </a:rPr>
              <a:t>Why min?  AND in fuzzy logic is the weakest link — a rule can only be as true as its least-satisfied condition. (OR would use max.) All four rules fire at once; classical logic would have picked exactly one.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74320"/>
          </a:xfrm>
          <a:prstGeom prst="rect">
            <a:avLst/>
          </a:prstGeom>
          <a:noFill/>
          <a:ln/>
        </p:spPr>
        <p:txBody>
          <a:bodyPr wrap="square" lIns="0" tIns="0" rIns="0" bIns="0" rtlCol="0" anchor="ctr"/>
          <a:lstStyle/>
          <a:p>
            <a:pPr marL="0" indent="0">
              <a:buNone/>
            </a:pPr>
            <a:r>
              <a:rPr lang="en-US" b="1" kern="0" spc="200" dirty="0">
                <a:solidFill>
                  <a:srgbClr val="E3963E"/>
                </a:solidFill>
                <a:latin typeface="Calibri" pitchFamily="34" charset="0"/>
                <a:ea typeface="Calibri" pitchFamily="34" charset="-122"/>
                <a:cs typeface="Calibri" pitchFamily="34" charset="-120"/>
              </a:rPr>
              <a:t>WORKED EXAMPLE  ·  CONTINUED</a:t>
            </a:r>
            <a:endParaRPr lang="en-US" dirty="0"/>
          </a:p>
        </p:txBody>
      </p:sp>
      <p:sp>
        <p:nvSpPr>
          <p:cNvPr id="3" name="Text 1"/>
          <p:cNvSpPr txBox="1"/>
          <p:nvPr/>
        </p:nvSpPr>
        <p:spPr>
          <a:xfrm>
            <a:off x="594360" y="658368"/>
            <a:ext cx="10881360" cy="658368"/>
          </a:xfrm>
          <a:prstGeom prst="rect">
            <a:avLst/>
          </a:prstGeom>
          <a:noFill/>
          <a:ln/>
        </p:spPr>
        <p:txBody>
          <a:bodyPr wrap="square" lIns="0" tIns="0" rIns="0" bIns="0" rtlCol="0" anchor="ctr"/>
          <a:lstStyle/>
          <a:p>
            <a:pPr marL="0" indent="0">
              <a:buNone/>
            </a:pPr>
            <a:r>
              <a:rPr lang="en-US" sz="3200" b="1" dirty="0">
                <a:solidFill>
                  <a:srgbClr val="1B2437"/>
                </a:solidFill>
                <a:latin typeface="Cambria" pitchFamily="34" charset="0"/>
                <a:ea typeface="Cambria" pitchFamily="34" charset="-122"/>
                <a:cs typeface="Cambria" pitchFamily="34" charset="-120"/>
              </a:rPr>
              <a:t>Step 3 — aggregate the fired rules into one fan speed</a:t>
            </a:r>
            <a:endParaRPr lang="en-US" sz="3200" dirty="0"/>
          </a:p>
        </p:txBody>
      </p:sp>
      <p:graphicFrame>
        <p:nvGraphicFramePr>
          <p:cNvPr id="4" name="Chart 0"/>
          <p:cNvGraphicFramePr/>
          <p:nvPr>
            <p:extLst>
              <p:ext uri="{D42A27DB-BD31-4B8C-83A1-F6EECF244321}">
                <p14:modId xmlns:p14="http://schemas.microsoft.com/office/powerpoint/2010/main" val="1171131499"/>
              </p:ext>
            </p:extLst>
          </p:nvPr>
        </p:nvGraphicFramePr>
        <p:xfrm>
          <a:off x="502920" y="1600200"/>
          <a:ext cx="51206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94360" y="4572000"/>
            <a:ext cx="4937760" cy="731520"/>
          </a:xfrm>
          <a:prstGeom prst="rect">
            <a:avLst/>
          </a:prstGeom>
          <a:noFill/>
          <a:ln/>
        </p:spPr>
        <p:txBody>
          <a:bodyPr wrap="square" lIns="0" tIns="0" rIns="0" bIns="0" rtlCol="0" anchor="ctr"/>
          <a:lstStyle/>
          <a:p>
            <a:pPr marL="0" indent="0">
              <a:lnSpc>
                <a:spcPts val="1700"/>
              </a:lnSpc>
              <a:buNone/>
            </a:pPr>
            <a:r>
              <a:rPr lang="en-US" sz="1600" dirty="0">
                <a:solidFill>
                  <a:srgbClr val="6B7A99"/>
                </a:solidFill>
                <a:latin typeface="Calibri" pitchFamily="34" charset="0"/>
                <a:ea typeface="Calibri" pitchFamily="34" charset="-122"/>
                <a:cs typeface="Calibri" pitchFamily="34" charset="-120"/>
              </a:rPr>
              <a:t>Each output set is represented by its centre: Medium = 55, High = 85, Max = 100. Weighted-average defuzzification then takes the centre of gravity.</a:t>
            </a:r>
            <a:endParaRPr lang="en-US" sz="1600" dirty="0"/>
          </a:p>
        </p:txBody>
      </p:sp>
      <p:sp>
        <p:nvSpPr>
          <p:cNvPr id="6" name="Shape 3"/>
          <p:cNvSpPr/>
          <p:nvPr/>
        </p:nvSpPr>
        <p:spPr>
          <a:xfrm>
            <a:off x="5943600" y="1600200"/>
            <a:ext cx="5669280" cy="2377440"/>
          </a:xfrm>
          <a:prstGeom prst="roundRect">
            <a:avLst>
              <a:gd name="adj" fmla="val 4615"/>
            </a:avLst>
          </a:prstGeom>
          <a:solidFill>
            <a:srgbClr val="F3F5FA"/>
          </a:solidFill>
          <a:ln w="12700">
            <a:solidFill>
              <a:srgbClr val="DCE3F0"/>
            </a:solidFill>
            <a:prstDash val="solid"/>
          </a:ln>
        </p:spPr>
      </p:sp>
      <p:sp>
        <p:nvSpPr>
          <p:cNvPr id="7" name="Text 4"/>
          <p:cNvSpPr txBox="1"/>
          <p:nvPr/>
        </p:nvSpPr>
        <p:spPr>
          <a:xfrm>
            <a:off x="6172200" y="1755648"/>
            <a:ext cx="5212080" cy="365760"/>
          </a:xfrm>
          <a:prstGeom prst="rect">
            <a:avLst/>
          </a:prstGeom>
          <a:noFill/>
          <a:ln/>
        </p:spPr>
        <p:txBody>
          <a:bodyPr wrap="square" lIns="0" tIns="0" rIns="0" bIns="0" rtlCol="0" anchor="ctr"/>
          <a:lstStyle/>
          <a:p>
            <a:pPr marL="0" indent="0">
              <a:buNone/>
            </a:pPr>
            <a:r>
              <a:rPr lang="en-US" sz="1800" b="1" dirty="0">
                <a:solidFill>
                  <a:srgbClr val="2F4368"/>
                </a:solidFill>
                <a:latin typeface="Cambria" pitchFamily="34" charset="0"/>
                <a:ea typeface="Cambria" pitchFamily="34" charset="-122"/>
                <a:cs typeface="Cambria" pitchFamily="34" charset="-120"/>
              </a:rPr>
              <a:t>Fan speed  =  Σ αᵢ zᵢ  /  Σ αᵢ</a:t>
            </a:r>
            <a:endParaRPr lang="en-US" sz="1800" dirty="0"/>
          </a:p>
        </p:txBody>
      </p:sp>
      <p:sp>
        <p:nvSpPr>
          <p:cNvPr id="8" name="Text 5"/>
          <p:cNvSpPr txBox="1"/>
          <p:nvPr/>
        </p:nvSpPr>
        <p:spPr>
          <a:xfrm>
            <a:off x="6172200" y="2148840"/>
            <a:ext cx="5440680" cy="1417320"/>
          </a:xfrm>
          <a:prstGeom prst="rect">
            <a:avLst/>
          </a:prstGeom>
          <a:noFill/>
          <a:ln/>
        </p:spPr>
        <p:txBody>
          <a:bodyPr wrap="square" lIns="0" tIns="0" rIns="0" bIns="0" rtlCol="0" anchor="ctr"/>
          <a:lstStyle/>
          <a:p>
            <a:pPr marL="0" indent="0">
              <a:lnSpc>
                <a:spcPts val="2000"/>
              </a:lnSpc>
              <a:buNone/>
            </a:pPr>
            <a:r>
              <a:rPr lang="en-US" sz="1400" dirty="0">
                <a:solidFill>
                  <a:srgbClr val="1B2437"/>
                </a:solidFill>
                <a:latin typeface="Courier New" pitchFamily="34" charset="0"/>
                <a:ea typeface="Courier New" pitchFamily="34" charset="-122"/>
                <a:cs typeface="Courier New" pitchFamily="34" charset="-120"/>
              </a:rPr>
              <a:t>numerator  = 0.4(55) + 0.6(85) + 0.4(85) + 0.4(100)</a:t>
            </a:r>
            <a:endParaRPr lang="en-US" sz="1400" dirty="0"/>
          </a:p>
          <a:p>
            <a:pPr marL="0" indent="0">
              <a:lnSpc>
                <a:spcPts val="2000"/>
              </a:lnSpc>
              <a:buNone/>
            </a:pPr>
            <a:r>
              <a:rPr lang="en-US" sz="1400" b="1" dirty="0">
                <a:solidFill>
                  <a:srgbClr val="1B2437"/>
                </a:solidFill>
                <a:latin typeface="Courier New" pitchFamily="34" charset="0"/>
                <a:ea typeface="Courier New" pitchFamily="34" charset="-122"/>
                <a:cs typeface="Courier New" pitchFamily="34" charset="-120"/>
              </a:rPr>
              <a:t>           = 22 + 51 + 34 + 40  =  147</a:t>
            </a:r>
            <a:endParaRPr lang="en-US" sz="1400" dirty="0"/>
          </a:p>
          <a:p>
            <a:pPr marL="0" indent="0">
              <a:lnSpc>
                <a:spcPts val="2000"/>
              </a:lnSpc>
              <a:buNone/>
            </a:pPr>
            <a:r>
              <a:rPr lang="en-US" sz="1400" b="1" dirty="0">
                <a:solidFill>
                  <a:srgbClr val="1B2437"/>
                </a:solidFill>
                <a:latin typeface="Courier New" pitchFamily="34" charset="0"/>
                <a:ea typeface="Courier New" pitchFamily="34" charset="-122"/>
                <a:cs typeface="Courier New" pitchFamily="34" charset="-120"/>
              </a:rPr>
              <a:t>denominator = 0.4 + 0.6 + 0.4 + 0.4  =  1.8</a:t>
            </a:r>
            <a:endParaRPr lang="en-US" sz="1400" dirty="0"/>
          </a:p>
          <a:p>
            <a:pPr marL="0" indent="0">
              <a:lnSpc>
                <a:spcPts val="2000"/>
              </a:lnSpc>
              <a:buNone/>
            </a:pPr>
            <a:r>
              <a:rPr lang="en-US" sz="1400" b="1" dirty="0">
                <a:solidFill>
                  <a:srgbClr val="C05A5A"/>
                </a:solidFill>
                <a:latin typeface="Courier New" pitchFamily="34" charset="0"/>
                <a:ea typeface="Courier New" pitchFamily="34" charset="-122"/>
                <a:cs typeface="Courier New" pitchFamily="34" charset="-120"/>
              </a:rPr>
              <a:t>fan speed  = 147 / 1.8  =  81.7</a:t>
            </a:r>
            <a:endParaRPr lang="en-US" sz="1400" dirty="0"/>
          </a:p>
        </p:txBody>
      </p:sp>
      <p:sp>
        <p:nvSpPr>
          <p:cNvPr id="9" name="Text 6"/>
          <p:cNvSpPr txBox="1"/>
          <p:nvPr/>
        </p:nvSpPr>
        <p:spPr>
          <a:xfrm>
            <a:off x="6172200" y="3547872"/>
            <a:ext cx="5212080" cy="411480"/>
          </a:xfrm>
          <a:prstGeom prst="rect">
            <a:avLst/>
          </a:prstGeom>
          <a:noFill/>
          <a:ln/>
        </p:spPr>
        <p:txBody>
          <a:bodyPr wrap="square" lIns="0" tIns="0" rIns="0" bIns="0" rtlCol="0" anchor="ctr"/>
          <a:lstStyle/>
          <a:p>
            <a:pPr marL="0" indent="0">
              <a:buNone/>
            </a:pPr>
            <a:r>
              <a:rPr lang="en-US" sz="1400" i="1" dirty="0">
                <a:solidFill>
                  <a:srgbClr val="6B7A99"/>
                </a:solidFill>
                <a:latin typeface="Calibri" pitchFamily="34" charset="0"/>
                <a:ea typeface="Calibri" pitchFamily="34" charset="-122"/>
                <a:cs typeface="Calibri" pitchFamily="34" charset="-120"/>
              </a:rPr>
              <a:t>Mamdani variant: aggregate the two High rules with max(0.6, 0.4) = 0.6 first, and the centroid gives 80.7 — the same control decision.</a:t>
            </a:r>
            <a:endParaRPr lang="en-US" sz="1400" dirty="0"/>
          </a:p>
        </p:txBody>
      </p:sp>
      <p:sp>
        <p:nvSpPr>
          <p:cNvPr id="10" name="Shape 7"/>
          <p:cNvSpPr/>
          <p:nvPr/>
        </p:nvSpPr>
        <p:spPr>
          <a:xfrm>
            <a:off x="5943600" y="4343400"/>
            <a:ext cx="5669280" cy="1463040"/>
          </a:xfrm>
          <a:prstGeom prst="roundRect">
            <a:avLst>
              <a:gd name="adj" fmla="val 7500"/>
            </a:avLst>
          </a:prstGeom>
          <a:solidFill>
            <a:srgbClr val="2F4368"/>
          </a:solidFill>
          <a:ln/>
        </p:spPr>
      </p:sp>
      <p:sp>
        <p:nvSpPr>
          <p:cNvPr id="11" name="Text 8"/>
          <p:cNvSpPr txBox="1"/>
          <p:nvPr/>
        </p:nvSpPr>
        <p:spPr>
          <a:xfrm>
            <a:off x="6172200" y="4526280"/>
            <a:ext cx="2194560" cy="914400"/>
          </a:xfrm>
          <a:prstGeom prst="rect">
            <a:avLst/>
          </a:prstGeom>
          <a:noFill/>
          <a:ln/>
        </p:spPr>
        <p:txBody>
          <a:bodyPr wrap="square" lIns="0" tIns="0" rIns="0" bIns="0" rtlCol="0" anchor="ctr"/>
          <a:lstStyle/>
          <a:p>
            <a:pPr marL="0" indent="0">
              <a:buNone/>
            </a:pPr>
            <a:r>
              <a:rPr lang="en-US" sz="4800" b="1" dirty="0">
                <a:solidFill>
                  <a:srgbClr val="E3963E"/>
                </a:solidFill>
                <a:latin typeface="Cambria" pitchFamily="34" charset="0"/>
                <a:ea typeface="Cambria" pitchFamily="34" charset="-122"/>
                <a:cs typeface="Cambria" pitchFamily="34" charset="-120"/>
              </a:rPr>
              <a:t>≈ 82%</a:t>
            </a:r>
            <a:endParaRPr lang="en-US" sz="4800" dirty="0"/>
          </a:p>
        </p:txBody>
      </p:sp>
      <p:sp>
        <p:nvSpPr>
          <p:cNvPr id="12" name="Text 9"/>
          <p:cNvSpPr txBox="1"/>
          <p:nvPr/>
        </p:nvSpPr>
        <p:spPr>
          <a:xfrm>
            <a:off x="8412480" y="4480560"/>
            <a:ext cx="3017520" cy="1188720"/>
          </a:xfrm>
          <a:prstGeom prst="rect">
            <a:avLst/>
          </a:prstGeom>
          <a:noFill/>
          <a:ln/>
        </p:spPr>
        <p:txBody>
          <a:bodyPr wrap="square" lIns="0" tIns="0" rIns="0" bIns="0" rtlCol="0" anchor="ctr"/>
          <a:lstStyle/>
          <a:p>
            <a:pPr marL="0" indent="0">
              <a:lnSpc>
                <a:spcPts val="1700"/>
              </a:lnSpc>
              <a:buNone/>
            </a:pPr>
            <a:r>
              <a:rPr lang="en-US" sz="1600" dirty="0">
                <a:solidFill>
                  <a:srgbClr val="D6DFF0"/>
                </a:solidFill>
                <a:latin typeface="Calibri" pitchFamily="34" charset="0"/>
                <a:ea typeface="Calibri" pitchFamily="34" charset="-122"/>
                <a:cs typeface="Calibri" pitchFamily="34" charset="-120"/>
              </a:rPr>
              <a:t>fan speed. Nudge the room to 26°C and the output glides to roughly 74% — no step, no relay chatter, no oscillation around a threshold.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74320"/>
          </a:xfrm>
          <a:prstGeom prst="rect">
            <a:avLst/>
          </a:prstGeom>
          <a:noFill/>
          <a:ln/>
        </p:spPr>
        <p:txBody>
          <a:bodyPr wrap="square" lIns="0" tIns="0" rIns="0" bIns="0" rtlCol="0" anchor="ctr"/>
          <a:lstStyle/>
          <a:p>
            <a:pPr marL="0" indent="0">
              <a:buNone/>
            </a:pPr>
            <a:r>
              <a:rPr lang="en-US" b="1" kern="0" spc="200" dirty="0">
                <a:solidFill>
                  <a:srgbClr val="E3963E"/>
                </a:solidFill>
                <a:latin typeface="Calibri" pitchFamily="34" charset="0"/>
                <a:ea typeface="Calibri" pitchFamily="34" charset="-122"/>
                <a:cs typeface="Calibri" pitchFamily="34" charset="-120"/>
              </a:rPr>
              <a:t>WHERE IT FITS</a:t>
            </a:r>
            <a:endParaRPr lang="en-US" dirty="0"/>
          </a:p>
        </p:txBody>
      </p:sp>
      <p:sp>
        <p:nvSpPr>
          <p:cNvPr id="3" name="Text 1"/>
          <p:cNvSpPr txBox="1"/>
          <p:nvPr/>
        </p:nvSpPr>
        <p:spPr>
          <a:xfrm>
            <a:off x="594360" y="658368"/>
            <a:ext cx="10881360" cy="658368"/>
          </a:xfrm>
          <a:prstGeom prst="rect">
            <a:avLst/>
          </a:prstGeom>
          <a:noFill/>
          <a:ln/>
        </p:spPr>
        <p:txBody>
          <a:bodyPr wrap="square" lIns="0" tIns="0" rIns="0" bIns="0" rtlCol="0" anchor="ctr"/>
          <a:lstStyle/>
          <a:p>
            <a:pPr marL="0" indent="0">
              <a:buNone/>
            </a:pPr>
            <a:r>
              <a:rPr lang="en-US" sz="3200" b="1" dirty="0">
                <a:solidFill>
                  <a:srgbClr val="1B2437"/>
                </a:solidFill>
                <a:latin typeface="Cambria" pitchFamily="34" charset="0"/>
                <a:ea typeface="Cambria" pitchFamily="34" charset="-122"/>
                <a:cs typeface="Cambria" pitchFamily="34" charset="-120"/>
              </a:rPr>
              <a:t>Where does the knowledge come from?</a:t>
            </a:r>
            <a:endParaRPr lang="en-US" sz="3200" dirty="0"/>
          </a:p>
        </p:txBody>
      </p:sp>
      <p:sp>
        <p:nvSpPr>
          <p:cNvPr id="4" name="Shape 2"/>
          <p:cNvSpPr/>
          <p:nvPr/>
        </p:nvSpPr>
        <p:spPr>
          <a:xfrm>
            <a:off x="3063240" y="1554480"/>
            <a:ext cx="2880360" cy="502920"/>
          </a:xfrm>
          <a:prstGeom prst="roundRect">
            <a:avLst>
              <a:gd name="adj" fmla="val 14545"/>
            </a:avLst>
          </a:prstGeom>
          <a:solidFill>
            <a:srgbClr val="E3963E"/>
          </a:solidFill>
          <a:ln/>
        </p:spPr>
      </p:sp>
      <p:sp>
        <p:nvSpPr>
          <p:cNvPr id="5" name="Text 3"/>
          <p:cNvSpPr txBox="1"/>
          <p:nvPr/>
        </p:nvSpPr>
        <p:spPr>
          <a:xfrm>
            <a:off x="3063240" y="1554480"/>
            <a:ext cx="2880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Fuzzy Logic</a:t>
            </a:r>
            <a:endParaRPr lang="en-US" sz="1600" dirty="0"/>
          </a:p>
        </p:txBody>
      </p:sp>
      <p:sp>
        <p:nvSpPr>
          <p:cNvPr id="6" name="Shape 4"/>
          <p:cNvSpPr/>
          <p:nvPr/>
        </p:nvSpPr>
        <p:spPr>
          <a:xfrm>
            <a:off x="6080760" y="1554480"/>
            <a:ext cx="2880360" cy="502920"/>
          </a:xfrm>
          <a:prstGeom prst="roundRect">
            <a:avLst>
              <a:gd name="adj" fmla="val 14545"/>
            </a:avLst>
          </a:prstGeom>
          <a:solidFill>
            <a:srgbClr val="2E9E8F"/>
          </a:solidFill>
          <a:ln/>
        </p:spPr>
      </p:sp>
      <p:sp>
        <p:nvSpPr>
          <p:cNvPr id="7" name="Text 5"/>
          <p:cNvSpPr txBox="1"/>
          <p:nvPr/>
        </p:nvSpPr>
        <p:spPr>
          <a:xfrm>
            <a:off x="6080760" y="1554480"/>
            <a:ext cx="2880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Classical ML</a:t>
            </a:r>
            <a:endParaRPr lang="en-US" sz="1600" dirty="0"/>
          </a:p>
        </p:txBody>
      </p:sp>
      <p:sp>
        <p:nvSpPr>
          <p:cNvPr id="8" name="Shape 6"/>
          <p:cNvSpPr/>
          <p:nvPr/>
        </p:nvSpPr>
        <p:spPr>
          <a:xfrm>
            <a:off x="9098280" y="1554480"/>
            <a:ext cx="2468880" cy="502920"/>
          </a:xfrm>
          <a:prstGeom prst="roundRect">
            <a:avLst>
              <a:gd name="adj" fmla="val 14545"/>
            </a:avLst>
          </a:prstGeom>
          <a:solidFill>
            <a:srgbClr val="2F4368"/>
          </a:solidFill>
          <a:ln/>
        </p:spPr>
      </p:sp>
      <p:sp>
        <p:nvSpPr>
          <p:cNvPr id="9" name="Text 7"/>
          <p:cNvSpPr txBox="1"/>
          <p:nvPr/>
        </p:nvSpPr>
        <p:spPr>
          <a:xfrm>
            <a:off x="9098280" y="1554480"/>
            <a:ext cx="246888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Neural Networks</a:t>
            </a:r>
            <a:endParaRPr lang="en-US" sz="1600" dirty="0"/>
          </a:p>
        </p:txBody>
      </p:sp>
      <p:sp>
        <p:nvSpPr>
          <p:cNvPr id="10" name="Shape 8"/>
          <p:cNvSpPr/>
          <p:nvPr/>
        </p:nvSpPr>
        <p:spPr>
          <a:xfrm>
            <a:off x="594360" y="2194560"/>
            <a:ext cx="10972800" cy="603504"/>
          </a:xfrm>
          <a:prstGeom prst="rect">
            <a:avLst/>
          </a:prstGeom>
          <a:solidFill>
            <a:srgbClr val="FFFFFF"/>
          </a:solidFill>
          <a:ln w="9525">
            <a:solidFill>
              <a:srgbClr val="E6EAF3"/>
            </a:solidFill>
            <a:prstDash val="solid"/>
          </a:ln>
        </p:spPr>
      </p:sp>
      <p:sp>
        <p:nvSpPr>
          <p:cNvPr id="11" name="Text 9"/>
          <p:cNvSpPr txBox="1"/>
          <p:nvPr/>
        </p:nvSpPr>
        <p:spPr>
          <a:xfrm>
            <a:off x="704088" y="2194560"/>
            <a:ext cx="2112264" cy="603504"/>
          </a:xfrm>
          <a:prstGeom prst="rect">
            <a:avLst/>
          </a:prstGeom>
          <a:noFill/>
          <a:ln/>
        </p:spPr>
        <p:txBody>
          <a:bodyPr wrap="square" lIns="0" tIns="0" rIns="0" bIns="0" rtlCol="0" anchor="ctr"/>
          <a:lstStyle/>
          <a:p>
            <a:pPr marL="0" indent="0">
              <a:buNone/>
            </a:pPr>
            <a:r>
              <a:rPr lang="en-US" sz="1600" b="1" dirty="0">
                <a:solidFill>
                  <a:srgbClr val="2F4368"/>
                </a:solidFill>
                <a:latin typeface="Calibri" pitchFamily="34" charset="0"/>
                <a:ea typeface="Calibri" pitchFamily="34" charset="-122"/>
                <a:cs typeface="Calibri" pitchFamily="34" charset="-120"/>
              </a:rPr>
              <a:t>Knowledge source</a:t>
            </a:r>
            <a:endParaRPr lang="en-US" sz="1600" dirty="0"/>
          </a:p>
        </p:txBody>
      </p:sp>
      <p:sp>
        <p:nvSpPr>
          <p:cNvPr id="12" name="Text 10"/>
          <p:cNvSpPr txBox="1"/>
          <p:nvPr/>
        </p:nvSpPr>
        <p:spPr>
          <a:xfrm>
            <a:off x="3172968" y="2194560"/>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Human expert writes the rules</a:t>
            </a:r>
            <a:endParaRPr lang="en-US" sz="1600" dirty="0"/>
          </a:p>
        </p:txBody>
      </p:sp>
      <p:sp>
        <p:nvSpPr>
          <p:cNvPr id="13" name="Text 11"/>
          <p:cNvSpPr txBox="1"/>
          <p:nvPr/>
        </p:nvSpPr>
        <p:spPr>
          <a:xfrm>
            <a:off x="6190488" y="2194560"/>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Features + labelled examples</a:t>
            </a:r>
            <a:endParaRPr lang="en-US" sz="1600" dirty="0"/>
          </a:p>
        </p:txBody>
      </p:sp>
      <p:sp>
        <p:nvSpPr>
          <p:cNvPr id="14" name="Text 12"/>
          <p:cNvSpPr txBox="1"/>
          <p:nvPr/>
        </p:nvSpPr>
        <p:spPr>
          <a:xfrm>
            <a:off x="9208008" y="2194560"/>
            <a:ext cx="224942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Raw data, learned end-to-end</a:t>
            </a:r>
            <a:endParaRPr lang="en-US" sz="1600" dirty="0"/>
          </a:p>
        </p:txBody>
      </p:sp>
      <p:sp>
        <p:nvSpPr>
          <p:cNvPr id="15" name="Shape 13"/>
          <p:cNvSpPr/>
          <p:nvPr/>
        </p:nvSpPr>
        <p:spPr>
          <a:xfrm>
            <a:off x="594360" y="2798064"/>
            <a:ext cx="10972800" cy="603504"/>
          </a:xfrm>
          <a:prstGeom prst="rect">
            <a:avLst/>
          </a:prstGeom>
          <a:solidFill>
            <a:srgbClr val="F3F5FA"/>
          </a:solidFill>
          <a:ln w="9525">
            <a:solidFill>
              <a:srgbClr val="E6EAF3"/>
            </a:solidFill>
            <a:prstDash val="solid"/>
          </a:ln>
        </p:spPr>
      </p:sp>
      <p:sp>
        <p:nvSpPr>
          <p:cNvPr id="16" name="Text 14"/>
          <p:cNvSpPr txBox="1"/>
          <p:nvPr/>
        </p:nvSpPr>
        <p:spPr>
          <a:xfrm>
            <a:off x="704088" y="2798064"/>
            <a:ext cx="2112264" cy="603504"/>
          </a:xfrm>
          <a:prstGeom prst="rect">
            <a:avLst/>
          </a:prstGeom>
          <a:noFill/>
          <a:ln/>
        </p:spPr>
        <p:txBody>
          <a:bodyPr wrap="square" lIns="0" tIns="0" rIns="0" bIns="0" rtlCol="0" anchor="ctr"/>
          <a:lstStyle/>
          <a:p>
            <a:pPr marL="0" indent="0">
              <a:buNone/>
            </a:pPr>
            <a:r>
              <a:rPr lang="en-US" sz="1600" b="1" dirty="0">
                <a:solidFill>
                  <a:srgbClr val="2F4368"/>
                </a:solidFill>
                <a:latin typeface="Calibri" pitchFamily="34" charset="0"/>
                <a:ea typeface="Calibri" pitchFamily="34" charset="-122"/>
                <a:cs typeface="Calibri" pitchFamily="34" charset="-120"/>
              </a:rPr>
              <a:t>Data needed</a:t>
            </a:r>
            <a:endParaRPr lang="en-US" sz="1600" dirty="0"/>
          </a:p>
        </p:txBody>
      </p:sp>
      <p:sp>
        <p:nvSpPr>
          <p:cNvPr id="17" name="Text 15"/>
          <p:cNvSpPr txBox="1"/>
          <p:nvPr/>
        </p:nvSpPr>
        <p:spPr>
          <a:xfrm>
            <a:off x="3172968" y="2798064"/>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None to start</a:t>
            </a:r>
            <a:endParaRPr lang="en-US" sz="1600" dirty="0"/>
          </a:p>
        </p:txBody>
      </p:sp>
      <p:sp>
        <p:nvSpPr>
          <p:cNvPr id="18" name="Text 16"/>
          <p:cNvSpPr txBox="1"/>
          <p:nvPr/>
        </p:nvSpPr>
        <p:spPr>
          <a:xfrm>
            <a:off x="6190488" y="2798064"/>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Thousands of rows</a:t>
            </a:r>
            <a:endParaRPr lang="en-US" sz="1600" dirty="0"/>
          </a:p>
        </p:txBody>
      </p:sp>
      <p:sp>
        <p:nvSpPr>
          <p:cNvPr id="19" name="Text 17"/>
          <p:cNvSpPr txBox="1"/>
          <p:nvPr/>
        </p:nvSpPr>
        <p:spPr>
          <a:xfrm>
            <a:off x="9208008" y="2798064"/>
            <a:ext cx="224942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Tens of thousands upward</a:t>
            </a:r>
            <a:endParaRPr lang="en-US" sz="1600" dirty="0"/>
          </a:p>
        </p:txBody>
      </p:sp>
      <p:sp>
        <p:nvSpPr>
          <p:cNvPr id="20" name="Shape 18"/>
          <p:cNvSpPr/>
          <p:nvPr/>
        </p:nvSpPr>
        <p:spPr>
          <a:xfrm>
            <a:off x="594360" y="3401568"/>
            <a:ext cx="10972800" cy="603504"/>
          </a:xfrm>
          <a:prstGeom prst="rect">
            <a:avLst/>
          </a:prstGeom>
          <a:solidFill>
            <a:srgbClr val="FFFFFF"/>
          </a:solidFill>
          <a:ln w="9525">
            <a:solidFill>
              <a:srgbClr val="E6EAF3"/>
            </a:solidFill>
            <a:prstDash val="solid"/>
          </a:ln>
        </p:spPr>
      </p:sp>
      <p:sp>
        <p:nvSpPr>
          <p:cNvPr id="21" name="Text 19"/>
          <p:cNvSpPr txBox="1"/>
          <p:nvPr/>
        </p:nvSpPr>
        <p:spPr>
          <a:xfrm>
            <a:off x="704088" y="3401568"/>
            <a:ext cx="2112264" cy="603504"/>
          </a:xfrm>
          <a:prstGeom prst="rect">
            <a:avLst/>
          </a:prstGeom>
          <a:noFill/>
          <a:ln/>
        </p:spPr>
        <p:txBody>
          <a:bodyPr wrap="square" lIns="0" tIns="0" rIns="0" bIns="0" rtlCol="0" anchor="ctr"/>
          <a:lstStyle/>
          <a:p>
            <a:pPr marL="0" indent="0">
              <a:buNone/>
            </a:pPr>
            <a:r>
              <a:rPr lang="en-US" sz="1600" b="1" dirty="0">
                <a:solidFill>
                  <a:srgbClr val="2F4368"/>
                </a:solidFill>
                <a:latin typeface="Calibri" pitchFamily="34" charset="0"/>
                <a:ea typeface="Calibri" pitchFamily="34" charset="-122"/>
                <a:cs typeface="Calibri" pitchFamily="34" charset="-120"/>
              </a:rPr>
              <a:t>Transparency</a:t>
            </a:r>
            <a:endParaRPr lang="en-US" sz="1600" dirty="0"/>
          </a:p>
        </p:txBody>
      </p:sp>
      <p:sp>
        <p:nvSpPr>
          <p:cNvPr id="22" name="Text 20"/>
          <p:cNvSpPr txBox="1"/>
          <p:nvPr/>
        </p:nvSpPr>
        <p:spPr>
          <a:xfrm>
            <a:off x="3172968" y="3401568"/>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Full — you can read every rule</a:t>
            </a:r>
            <a:endParaRPr lang="en-US" sz="1600" dirty="0"/>
          </a:p>
        </p:txBody>
      </p:sp>
      <p:sp>
        <p:nvSpPr>
          <p:cNvPr id="23" name="Text 21"/>
          <p:cNvSpPr txBox="1"/>
          <p:nvPr/>
        </p:nvSpPr>
        <p:spPr>
          <a:xfrm>
            <a:off x="6190488" y="3401568"/>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Moderate — weights, splits</a:t>
            </a:r>
            <a:endParaRPr lang="en-US" sz="1600" dirty="0"/>
          </a:p>
        </p:txBody>
      </p:sp>
      <p:sp>
        <p:nvSpPr>
          <p:cNvPr id="24" name="Text 22"/>
          <p:cNvSpPr txBox="1"/>
          <p:nvPr/>
        </p:nvSpPr>
        <p:spPr>
          <a:xfrm>
            <a:off x="9208008" y="3401568"/>
            <a:ext cx="224942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Low — millions of parameters</a:t>
            </a:r>
            <a:endParaRPr lang="en-US" sz="1600" dirty="0"/>
          </a:p>
        </p:txBody>
      </p:sp>
      <p:sp>
        <p:nvSpPr>
          <p:cNvPr id="25" name="Shape 23"/>
          <p:cNvSpPr/>
          <p:nvPr/>
        </p:nvSpPr>
        <p:spPr>
          <a:xfrm>
            <a:off x="594360" y="4005072"/>
            <a:ext cx="10972800" cy="603504"/>
          </a:xfrm>
          <a:prstGeom prst="rect">
            <a:avLst/>
          </a:prstGeom>
          <a:solidFill>
            <a:srgbClr val="F3F5FA"/>
          </a:solidFill>
          <a:ln w="9525">
            <a:solidFill>
              <a:srgbClr val="E6EAF3"/>
            </a:solidFill>
            <a:prstDash val="solid"/>
          </a:ln>
        </p:spPr>
      </p:sp>
      <p:sp>
        <p:nvSpPr>
          <p:cNvPr id="26" name="Text 24"/>
          <p:cNvSpPr txBox="1"/>
          <p:nvPr/>
        </p:nvSpPr>
        <p:spPr>
          <a:xfrm>
            <a:off x="704088" y="4005072"/>
            <a:ext cx="2112264" cy="603504"/>
          </a:xfrm>
          <a:prstGeom prst="rect">
            <a:avLst/>
          </a:prstGeom>
          <a:noFill/>
          <a:ln/>
        </p:spPr>
        <p:txBody>
          <a:bodyPr wrap="square" lIns="0" tIns="0" rIns="0" bIns="0" rtlCol="0" anchor="ctr"/>
          <a:lstStyle/>
          <a:p>
            <a:pPr marL="0" indent="0">
              <a:buNone/>
            </a:pPr>
            <a:r>
              <a:rPr lang="en-US" sz="1600" b="1" dirty="0">
                <a:solidFill>
                  <a:srgbClr val="2F4368"/>
                </a:solidFill>
                <a:latin typeface="Calibri" pitchFamily="34" charset="0"/>
                <a:ea typeface="Calibri" pitchFamily="34" charset="-122"/>
                <a:cs typeface="Calibri" pitchFamily="34" charset="-120"/>
              </a:rPr>
              <a:t>Handles vagueness</a:t>
            </a:r>
            <a:endParaRPr lang="en-US" sz="1600" dirty="0"/>
          </a:p>
        </p:txBody>
      </p:sp>
      <p:sp>
        <p:nvSpPr>
          <p:cNvPr id="27" name="Text 25"/>
          <p:cNvSpPr txBox="1"/>
          <p:nvPr/>
        </p:nvSpPr>
        <p:spPr>
          <a:xfrm>
            <a:off x="3172968" y="4005072"/>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By design: “warm”, “mildly risky”</a:t>
            </a:r>
            <a:endParaRPr lang="en-US" sz="1600" dirty="0"/>
          </a:p>
        </p:txBody>
      </p:sp>
      <p:sp>
        <p:nvSpPr>
          <p:cNvPr id="28" name="Text 26"/>
          <p:cNvSpPr txBox="1"/>
          <p:nvPr/>
        </p:nvSpPr>
        <p:spPr>
          <a:xfrm>
            <a:off x="6190488" y="4005072"/>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Only as probability</a:t>
            </a:r>
            <a:endParaRPr lang="en-US" sz="1600" dirty="0"/>
          </a:p>
        </p:txBody>
      </p:sp>
      <p:sp>
        <p:nvSpPr>
          <p:cNvPr id="29" name="Text 27"/>
          <p:cNvSpPr txBox="1"/>
          <p:nvPr/>
        </p:nvSpPr>
        <p:spPr>
          <a:xfrm>
            <a:off x="9208008" y="4005072"/>
            <a:ext cx="224942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Implicit in the representation</a:t>
            </a:r>
            <a:endParaRPr lang="en-US" sz="1600" dirty="0"/>
          </a:p>
        </p:txBody>
      </p:sp>
      <p:sp>
        <p:nvSpPr>
          <p:cNvPr id="30" name="Shape 28"/>
          <p:cNvSpPr/>
          <p:nvPr/>
        </p:nvSpPr>
        <p:spPr>
          <a:xfrm>
            <a:off x="594360" y="4608576"/>
            <a:ext cx="10972800" cy="603504"/>
          </a:xfrm>
          <a:prstGeom prst="rect">
            <a:avLst/>
          </a:prstGeom>
          <a:solidFill>
            <a:srgbClr val="FFFFFF"/>
          </a:solidFill>
          <a:ln w="9525">
            <a:solidFill>
              <a:srgbClr val="E6EAF3"/>
            </a:solidFill>
            <a:prstDash val="solid"/>
          </a:ln>
        </p:spPr>
      </p:sp>
      <p:sp>
        <p:nvSpPr>
          <p:cNvPr id="31" name="Text 29"/>
          <p:cNvSpPr txBox="1"/>
          <p:nvPr/>
        </p:nvSpPr>
        <p:spPr>
          <a:xfrm>
            <a:off x="704088" y="4608576"/>
            <a:ext cx="2112264" cy="603504"/>
          </a:xfrm>
          <a:prstGeom prst="rect">
            <a:avLst/>
          </a:prstGeom>
          <a:noFill/>
          <a:ln/>
        </p:spPr>
        <p:txBody>
          <a:bodyPr wrap="square" lIns="0" tIns="0" rIns="0" bIns="0" rtlCol="0" anchor="ctr"/>
          <a:lstStyle/>
          <a:p>
            <a:pPr marL="0" indent="0">
              <a:buNone/>
            </a:pPr>
            <a:r>
              <a:rPr lang="en-US" sz="1600" b="1" dirty="0">
                <a:solidFill>
                  <a:srgbClr val="2F4368"/>
                </a:solidFill>
                <a:latin typeface="Calibri" pitchFamily="34" charset="0"/>
                <a:ea typeface="Calibri" pitchFamily="34" charset="-122"/>
                <a:cs typeface="Calibri" pitchFamily="34" charset="-120"/>
              </a:rPr>
              <a:t>Adapts on its own</a:t>
            </a:r>
            <a:endParaRPr lang="en-US" sz="1600" dirty="0"/>
          </a:p>
        </p:txBody>
      </p:sp>
      <p:sp>
        <p:nvSpPr>
          <p:cNvPr id="32" name="Text 30"/>
          <p:cNvSpPr txBox="1"/>
          <p:nvPr/>
        </p:nvSpPr>
        <p:spPr>
          <a:xfrm>
            <a:off x="3172968" y="4608576"/>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No — rules are static</a:t>
            </a:r>
            <a:endParaRPr lang="en-US" sz="1600" dirty="0"/>
          </a:p>
        </p:txBody>
      </p:sp>
      <p:sp>
        <p:nvSpPr>
          <p:cNvPr id="33" name="Text 31"/>
          <p:cNvSpPr txBox="1"/>
          <p:nvPr/>
        </p:nvSpPr>
        <p:spPr>
          <a:xfrm>
            <a:off x="6190488" y="4608576"/>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Yes — by retraining</a:t>
            </a:r>
            <a:endParaRPr lang="en-US" sz="1600" dirty="0"/>
          </a:p>
        </p:txBody>
      </p:sp>
      <p:sp>
        <p:nvSpPr>
          <p:cNvPr id="34" name="Text 32"/>
          <p:cNvSpPr txBox="1"/>
          <p:nvPr/>
        </p:nvSpPr>
        <p:spPr>
          <a:xfrm>
            <a:off x="9208008" y="4608576"/>
            <a:ext cx="224942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Yes — by gradient descent</a:t>
            </a:r>
            <a:endParaRPr lang="en-US" sz="1600" dirty="0"/>
          </a:p>
        </p:txBody>
      </p:sp>
      <p:sp>
        <p:nvSpPr>
          <p:cNvPr id="35" name="Shape 33"/>
          <p:cNvSpPr/>
          <p:nvPr/>
        </p:nvSpPr>
        <p:spPr>
          <a:xfrm>
            <a:off x="594360" y="5212080"/>
            <a:ext cx="10972800" cy="603504"/>
          </a:xfrm>
          <a:prstGeom prst="rect">
            <a:avLst/>
          </a:prstGeom>
          <a:solidFill>
            <a:srgbClr val="F3F5FA"/>
          </a:solidFill>
          <a:ln w="9525">
            <a:solidFill>
              <a:srgbClr val="E6EAF3"/>
            </a:solidFill>
            <a:prstDash val="solid"/>
          </a:ln>
        </p:spPr>
      </p:sp>
      <p:sp>
        <p:nvSpPr>
          <p:cNvPr id="36" name="Text 34"/>
          <p:cNvSpPr txBox="1"/>
          <p:nvPr/>
        </p:nvSpPr>
        <p:spPr>
          <a:xfrm>
            <a:off x="704088" y="5212080"/>
            <a:ext cx="2112264" cy="603504"/>
          </a:xfrm>
          <a:prstGeom prst="rect">
            <a:avLst/>
          </a:prstGeom>
          <a:noFill/>
          <a:ln/>
        </p:spPr>
        <p:txBody>
          <a:bodyPr wrap="square" lIns="0" tIns="0" rIns="0" bIns="0" rtlCol="0" anchor="ctr"/>
          <a:lstStyle/>
          <a:p>
            <a:pPr marL="0" indent="0">
              <a:buNone/>
            </a:pPr>
            <a:r>
              <a:rPr lang="en-US" sz="1600" b="1" dirty="0">
                <a:solidFill>
                  <a:srgbClr val="2F4368"/>
                </a:solidFill>
                <a:latin typeface="Calibri" pitchFamily="34" charset="0"/>
                <a:ea typeface="Calibri" pitchFamily="34" charset="-122"/>
                <a:cs typeface="Calibri" pitchFamily="34" charset="-120"/>
              </a:rPr>
              <a:t>Strongest at</a:t>
            </a:r>
            <a:endParaRPr lang="en-US" sz="1600" dirty="0"/>
          </a:p>
        </p:txBody>
      </p:sp>
      <p:sp>
        <p:nvSpPr>
          <p:cNvPr id="37" name="Text 35"/>
          <p:cNvSpPr txBox="1"/>
          <p:nvPr/>
        </p:nvSpPr>
        <p:spPr>
          <a:xfrm>
            <a:off x="3172968" y="5212080"/>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Control, safety limits, small expert domains</a:t>
            </a:r>
            <a:endParaRPr lang="en-US" sz="1600" dirty="0"/>
          </a:p>
        </p:txBody>
      </p:sp>
      <p:sp>
        <p:nvSpPr>
          <p:cNvPr id="38" name="Text 36"/>
          <p:cNvSpPr txBox="1"/>
          <p:nvPr/>
        </p:nvSpPr>
        <p:spPr>
          <a:xfrm>
            <a:off x="6190488" y="5212080"/>
            <a:ext cx="266090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Tabular prediction, ranking</a:t>
            </a:r>
            <a:endParaRPr lang="en-US" sz="1600" dirty="0"/>
          </a:p>
        </p:txBody>
      </p:sp>
      <p:sp>
        <p:nvSpPr>
          <p:cNvPr id="39" name="Text 37"/>
          <p:cNvSpPr txBox="1"/>
          <p:nvPr/>
        </p:nvSpPr>
        <p:spPr>
          <a:xfrm>
            <a:off x="9208008" y="5212080"/>
            <a:ext cx="2249424" cy="603504"/>
          </a:xfrm>
          <a:prstGeom prst="rect">
            <a:avLst/>
          </a:prstGeom>
          <a:noFill/>
          <a:ln/>
        </p:spPr>
        <p:txBody>
          <a:bodyPr wrap="square" lIns="0" tIns="0" rIns="0" bIns="0" rtlCol="0" anchor="ctr"/>
          <a:lstStyle/>
          <a:p>
            <a:pPr marL="0" indent="0">
              <a:buNone/>
            </a:pPr>
            <a:r>
              <a:rPr lang="en-US" sz="1600" dirty="0">
                <a:solidFill>
                  <a:srgbClr val="1B2437"/>
                </a:solidFill>
                <a:latin typeface="Calibri" pitchFamily="34" charset="0"/>
                <a:ea typeface="Calibri" pitchFamily="34" charset="-122"/>
                <a:cs typeface="Calibri" pitchFamily="34" charset="-120"/>
              </a:rPr>
              <a:t>Vision, language, speech</a:t>
            </a:r>
            <a:endParaRPr lang="en-US" sz="1600" dirty="0"/>
          </a:p>
        </p:txBody>
      </p:sp>
      <p:sp>
        <p:nvSpPr>
          <p:cNvPr id="40" name="Shape 38"/>
          <p:cNvSpPr/>
          <p:nvPr/>
        </p:nvSpPr>
        <p:spPr>
          <a:xfrm>
            <a:off x="594360" y="5897880"/>
            <a:ext cx="10972800" cy="566928"/>
          </a:xfrm>
          <a:prstGeom prst="roundRect">
            <a:avLst>
              <a:gd name="adj" fmla="val 16129"/>
            </a:avLst>
          </a:prstGeom>
          <a:solidFill>
            <a:srgbClr val="FDF3E4"/>
          </a:solidFill>
          <a:ln/>
        </p:spPr>
      </p:sp>
      <p:sp>
        <p:nvSpPr>
          <p:cNvPr id="41" name="Text 39"/>
          <p:cNvSpPr txBox="1"/>
          <p:nvPr/>
        </p:nvSpPr>
        <p:spPr>
          <a:xfrm>
            <a:off x="822960" y="5897880"/>
            <a:ext cx="10607040" cy="566928"/>
          </a:xfrm>
          <a:prstGeom prst="rect">
            <a:avLst/>
          </a:prstGeom>
          <a:noFill/>
          <a:ln/>
        </p:spPr>
        <p:txBody>
          <a:bodyPr wrap="square" lIns="0" tIns="0" rIns="0" bIns="0" rtlCol="0" anchor="ctr"/>
          <a:lstStyle/>
          <a:p>
            <a:pPr marL="0" indent="0">
              <a:buNone/>
            </a:pPr>
            <a:r>
              <a:rPr lang="en-US" sz="1600" b="1" dirty="0">
                <a:solidFill>
                  <a:srgbClr val="7A5114"/>
                </a:solidFill>
                <a:latin typeface="Calibri" pitchFamily="34" charset="0"/>
                <a:ea typeface="Calibri" pitchFamily="34" charset="-122"/>
                <a:cs typeface="Calibri" pitchFamily="34" charset="-120"/>
              </a:rPr>
              <a:t>Rule of thumb for the exam: fuzzy logic encodes knowledge you already have; machine learning extracts knowledge you don't</a:t>
            </a:r>
            <a:r>
              <a:rPr lang="en-US" sz="1300" b="1" dirty="0">
                <a:solidFill>
                  <a:srgbClr val="7A5114"/>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74320"/>
          </a:xfrm>
          <a:prstGeom prst="rect">
            <a:avLst/>
          </a:prstGeom>
          <a:noFill/>
          <a:ln/>
        </p:spPr>
        <p:txBody>
          <a:bodyPr wrap="square" lIns="0" tIns="0" rIns="0" bIns="0" rtlCol="0" anchor="ctr"/>
          <a:lstStyle/>
          <a:p>
            <a:pPr marL="0" indent="0">
              <a:buNone/>
            </a:pPr>
            <a:r>
              <a:rPr lang="en-US" b="1" kern="0" spc="200" dirty="0">
                <a:solidFill>
                  <a:srgbClr val="E3963E"/>
                </a:solidFill>
                <a:latin typeface="Calibri" pitchFamily="34" charset="0"/>
                <a:ea typeface="Calibri" pitchFamily="34" charset="-122"/>
                <a:cs typeface="Calibri" pitchFamily="34" charset="-120"/>
              </a:rPr>
              <a:t>THE INTERESTING PART</a:t>
            </a:r>
            <a:endParaRPr lang="en-US" dirty="0"/>
          </a:p>
        </p:txBody>
      </p:sp>
      <p:sp>
        <p:nvSpPr>
          <p:cNvPr id="3" name="Text 1"/>
          <p:cNvSpPr txBox="1"/>
          <p:nvPr/>
        </p:nvSpPr>
        <p:spPr>
          <a:xfrm>
            <a:off x="594360" y="658368"/>
            <a:ext cx="10881360" cy="658368"/>
          </a:xfrm>
          <a:prstGeom prst="rect">
            <a:avLst/>
          </a:prstGeom>
          <a:noFill/>
          <a:ln/>
        </p:spPr>
        <p:txBody>
          <a:bodyPr wrap="square" lIns="0" tIns="0" rIns="0" bIns="0" rtlCol="0" anchor="ctr"/>
          <a:lstStyle/>
          <a:p>
            <a:pPr marL="0" indent="0">
              <a:buNone/>
            </a:pPr>
            <a:r>
              <a:rPr lang="en-US" sz="3200" b="1" dirty="0">
                <a:solidFill>
                  <a:srgbClr val="1B2437"/>
                </a:solidFill>
                <a:latin typeface="Cambria" pitchFamily="34" charset="0"/>
                <a:ea typeface="Cambria" pitchFamily="34" charset="-122"/>
                <a:cs typeface="Cambria" pitchFamily="34" charset="-120"/>
              </a:rPr>
              <a:t>Modern systems combine them rather than choose</a:t>
            </a:r>
            <a:endParaRPr lang="en-US" sz="3200" dirty="0"/>
          </a:p>
        </p:txBody>
      </p:sp>
      <p:sp>
        <p:nvSpPr>
          <p:cNvPr id="4" name="Shape 2"/>
          <p:cNvSpPr/>
          <p:nvPr/>
        </p:nvSpPr>
        <p:spPr>
          <a:xfrm>
            <a:off x="594360" y="1600200"/>
            <a:ext cx="3474720" cy="3017520"/>
          </a:xfrm>
          <a:prstGeom prst="roundRect">
            <a:avLst>
              <a:gd name="adj" fmla="val 3636"/>
            </a:avLst>
          </a:prstGeom>
          <a:solidFill>
            <a:srgbClr val="FFFFFF"/>
          </a:solidFill>
          <a:ln w="12700">
            <a:solidFill>
              <a:srgbClr val="DCE3F0"/>
            </a:solidFill>
            <a:prstDash val="solid"/>
          </a:ln>
          <a:effectLst>
            <a:outerShdw blurRad="127000" dist="25400" dir="5400000" algn="bl" rotWithShape="0">
              <a:srgbClr val="9AA6BF">
                <a:alpha val="35000"/>
              </a:srgbClr>
            </a:outerShdw>
          </a:effectLst>
        </p:spPr>
      </p:sp>
      <p:sp>
        <p:nvSpPr>
          <p:cNvPr id="5" name="Shape 3"/>
          <p:cNvSpPr/>
          <p:nvPr/>
        </p:nvSpPr>
        <p:spPr>
          <a:xfrm>
            <a:off x="850392" y="1828800"/>
            <a:ext cx="713232" cy="713232"/>
          </a:xfrm>
          <a:prstGeom prst="ellipse">
            <a:avLst/>
          </a:prstGeom>
          <a:solidFill>
            <a:srgbClr val="E3963E"/>
          </a:solidFill>
          <a:ln/>
        </p:spPr>
      </p:sp>
      <p:sp>
        <p:nvSpPr>
          <p:cNvPr id="6" name="Text 4"/>
          <p:cNvSpPr txBox="1"/>
          <p:nvPr/>
        </p:nvSpPr>
        <p:spPr>
          <a:xfrm>
            <a:off x="850392" y="1828800"/>
            <a:ext cx="713232"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ANFIS</a:t>
            </a:r>
            <a:endParaRPr lang="en-US" sz="1600" dirty="0"/>
          </a:p>
        </p:txBody>
      </p:sp>
      <p:sp>
        <p:nvSpPr>
          <p:cNvPr id="7" name="Text 5"/>
          <p:cNvSpPr txBox="1"/>
          <p:nvPr/>
        </p:nvSpPr>
        <p:spPr>
          <a:xfrm>
            <a:off x="850392" y="2670048"/>
            <a:ext cx="2971800" cy="320040"/>
          </a:xfrm>
          <a:prstGeom prst="rect">
            <a:avLst/>
          </a:prstGeom>
          <a:noFill/>
          <a:ln/>
        </p:spPr>
        <p:txBody>
          <a:bodyPr wrap="square" lIns="0" tIns="0" rIns="0" bIns="0" rtlCol="0" anchor="ctr"/>
          <a:lstStyle/>
          <a:p>
            <a:pPr marL="0" indent="0">
              <a:buNone/>
            </a:pPr>
            <a:r>
              <a:rPr lang="en-US" sz="1600" b="1" dirty="0">
                <a:solidFill>
                  <a:srgbClr val="1B2437"/>
                </a:solidFill>
                <a:latin typeface="Cambria" pitchFamily="34" charset="0"/>
                <a:ea typeface="Cambria" pitchFamily="34" charset="-122"/>
                <a:cs typeface="Cambria" pitchFamily="34" charset="-120"/>
              </a:rPr>
              <a:t>Neuro-fuzzy inference</a:t>
            </a:r>
            <a:endParaRPr lang="en-US" sz="1600" dirty="0"/>
          </a:p>
        </p:txBody>
      </p:sp>
      <p:sp>
        <p:nvSpPr>
          <p:cNvPr id="8" name="Text 6"/>
          <p:cNvSpPr txBox="1"/>
          <p:nvPr/>
        </p:nvSpPr>
        <p:spPr>
          <a:xfrm>
            <a:off x="850392" y="3035808"/>
            <a:ext cx="2971800" cy="960120"/>
          </a:xfrm>
          <a:prstGeom prst="rect">
            <a:avLst/>
          </a:prstGeom>
          <a:noFill/>
          <a:ln/>
        </p:spPr>
        <p:txBody>
          <a:bodyPr wrap="square" lIns="0" tIns="0" rIns="0" bIns="0" rtlCol="0" anchor="ctr"/>
          <a:lstStyle/>
          <a:p>
            <a:pPr marL="0" indent="0">
              <a:lnSpc>
                <a:spcPts val="1600"/>
              </a:lnSpc>
              <a:buNone/>
            </a:pPr>
            <a:r>
              <a:rPr lang="en-US" sz="1600" dirty="0">
                <a:solidFill>
                  <a:srgbClr val="6B7A99"/>
                </a:solidFill>
                <a:latin typeface="Calibri" pitchFamily="34" charset="0"/>
                <a:ea typeface="Calibri" pitchFamily="34" charset="-122"/>
                <a:cs typeface="Calibri" pitchFamily="34" charset="-120"/>
              </a:rPr>
              <a:t>A fuzzy rule base laid out as a 5-layer network, so membership-function parameters are trained by gradient descent.</a:t>
            </a:r>
            <a:endParaRPr lang="en-US" sz="1600" dirty="0"/>
          </a:p>
        </p:txBody>
      </p:sp>
      <p:sp>
        <p:nvSpPr>
          <p:cNvPr id="9" name="Text 7"/>
          <p:cNvSpPr txBox="1"/>
          <p:nvPr/>
        </p:nvSpPr>
        <p:spPr>
          <a:xfrm>
            <a:off x="850392" y="4069080"/>
            <a:ext cx="2971800" cy="457200"/>
          </a:xfrm>
          <a:prstGeom prst="rect">
            <a:avLst/>
          </a:prstGeom>
          <a:noFill/>
          <a:ln/>
        </p:spPr>
        <p:txBody>
          <a:bodyPr wrap="square" lIns="0" tIns="0" rIns="0" bIns="0" rtlCol="0" anchor="ctr"/>
          <a:lstStyle/>
          <a:p>
            <a:pPr marL="0" indent="0">
              <a:buNone/>
            </a:pPr>
            <a:r>
              <a:rPr lang="en-US" sz="1400" i="1" dirty="0">
                <a:solidFill>
                  <a:srgbClr val="E3963E"/>
                </a:solidFill>
                <a:latin typeface="Calibri" pitchFamily="34" charset="0"/>
                <a:ea typeface="Calibri" pitchFamily="34" charset="-122"/>
                <a:cs typeface="Calibri" pitchFamily="34" charset="-120"/>
              </a:rPr>
              <a:t>You keep readable rules and still learn from data.</a:t>
            </a:r>
            <a:endParaRPr lang="en-US" sz="1400" dirty="0"/>
          </a:p>
        </p:txBody>
      </p:sp>
      <p:sp>
        <p:nvSpPr>
          <p:cNvPr id="10" name="Shape 8"/>
          <p:cNvSpPr/>
          <p:nvPr/>
        </p:nvSpPr>
        <p:spPr>
          <a:xfrm>
            <a:off x="4343400" y="1600200"/>
            <a:ext cx="3474720" cy="3017520"/>
          </a:xfrm>
          <a:prstGeom prst="roundRect">
            <a:avLst>
              <a:gd name="adj" fmla="val 3636"/>
            </a:avLst>
          </a:prstGeom>
          <a:solidFill>
            <a:srgbClr val="FFFFFF"/>
          </a:solidFill>
          <a:ln w="12700">
            <a:solidFill>
              <a:srgbClr val="DCE3F0"/>
            </a:solidFill>
            <a:prstDash val="solid"/>
          </a:ln>
          <a:effectLst>
            <a:outerShdw blurRad="127000" dist="25400" dir="5400000" algn="bl" rotWithShape="0">
              <a:srgbClr val="9AA6BF">
                <a:alpha val="35000"/>
              </a:srgbClr>
            </a:outerShdw>
          </a:effectLst>
        </p:spPr>
      </p:sp>
      <p:sp>
        <p:nvSpPr>
          <p:cNvPr id="11" name="Shape 9"/>
          <p:cNvSpPr/>
          <p:nvPr/>
        </p:nvSpPr>
        <p:spPr>
          <a:xfrm>
            <a:off x="4599432" y="1828800"/>
            <a:ext cx="713232" cy="713232"/>
          </a:xfrm>
          <a:prstGeom prst="ellipse">
            <a:avLst/>
          </a:prstGeom>
          <a:solidFill>
            <a:srgbClr val="2E9E8F"/>
          </a:solidFill>
          <a:ln/>
        </p:spPr>
      </p:sp>
      <p:sp>
        <p:nvSpPr>
          <p:cNvPr id="12" name="Text 10"/>
          <p:cNvSpPr txBox="1"/>
          <p:nvPr/>
        </p:nvSpPr>
        <p:spPr>
          <a:xfrm>
            <a:off x="4599432" y="1828800"/>
            <a:ext cx="713232"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FCM</a:t>
            </a:r>
            <a:endParaRPr lang="en-US" sz="1600" dirty="0"/>
          </a:p>
        </p:txBody>
      </p:sp>
      <p:sp>
        <p:nvSpPr>
          <p:cNvPr id="13" name="Text 11"/>
          <p:cNvSpPr txBox="1"/>
          <p:nvPr/>
        </p:nvSpPr>
        <p:spPr>
          <a:xfrm>
            <a:off x="4599432" y="2670048"/>
            <a:ext cx="2971800" cy="320040"/>
          </a:xfrm>
          <a:prstGeom prst="rect">
            <a:avLst/>
          </a:prstGeom>
          <a:noFill/>
          <a:ln/>
        </p:spPr>
        <p:txBody>
          <a:bodyPr wrap="square" lIns="0" tIns="0" rIns="0" bIns="0" rtlCol="0" anchor="ctr"/>
          <a:lstStyle/>
          <a:p>
            <a:pPr marL="0" indent="0">
              <a:buNone/>
            </a:pPr>
            <a:r>
              <a:rPr lang="en-US" sz="1600" b="1" dirty="0">
                <a:solidFill>
                  <a:srgbClr val="1B2437"/>
                </a:solidFill>
                <a:latin typeface="Cambria" pitchFamily="34" charset="0"/>
                <a:ea typeface="Cambria" pitchFamily="34" charset="-122"/>
                <a:cs typeface="Cambria" pitchFamily="34" charset="-120"/>
              </a:rPr>
              <a:t>Fuzzy c-means clustering</a:t>
            </a:r>
            <a:endParaRPr lang="en-US" sz="1600" dirty="0"/>
          </a:p>
        </p:txBody>
      </p:sp>
      <p:sp>
        <p:nvSpPr>
          <p:cNvPr id="14" name="Text 12"/>
          <p:cNvSpPr txBox="1"/>
          <p:nvPr/>
        </p:nvSpPr>
        <p:spPr>
          <a:xfrm>
            <a:off x="4599432" y="3035808"/>
            <a:ext cx="2971800" cy="960120"/>
          </a:xfrm>
          <a:prstGeom prst="rect">
            <a:avLst/>
          </a:prstGeom>
          <a:noFill/>
          <a:ln/>
        </p:spPr>
        <p:txBody>
          <a:bodyPr wrap="square" lIns="0" tIns="0" rIns="0" bIns="0" rtlCol="0" anchor="ctr"/>
          <a:lstStyle/>
          <a:p>
            <a:pPr marL="0" indent="0">
              <a:lnSpc>
                <a:spcPts val="1600"/>
              </a:lnSpc>
              <a:buNone/>
            </a:pPr>
            <a:r>
              <a:rPr lang="en-US" sz="1600" dirty="0">
                <a:solidFill>
                  <a:srgbClr val="6B7A99"/>
                </a:solidFill>
                <a:latin typeface="Calibri" pitchFamily="34" charset="0"/>
                <a:ea typeface="Calibri" pitchFamily="34" charset="-122"/>
                <a:cs typeface="Calibri" pitchFamily="34" charset="-120"/>
              </a:rPr>
              <a:t>Each point gets a membership in every cluster instead of one hard label — the soft cousin of k-means.</a:t>
            </a:r>
            <a:endParaRPr lang="en-US" sz="1600" dirty="0"/>
          </a:p>
        </p:txBody>
      </p:sp>
      <p:sp>
        <p:nvSpPr>
          <p:cNvPr id="15" name="Text 13"/>
          <p:cNvSpPr txBox="1"/>
          <p:nvPr/>
        </p:nvSpPr>
        <p:spPr>
          <a:xfrm>
            <a:off x="4599432" y="4069080"/>
            <a:ext cx="2971800" cy="457200"/>
          </a:xfrm>
          <a:prstGeom prst="rect">
            <a:avLst/>
          </a:prstGeom>
          <a:noFill/>
          <a:ln/>
        </p:spPr>
        <p:txBody>
          <a:bodyPr wrap="square" lIns="0" tIns="0" rIns="0" bIns="0" rtlCol="0" anchor="ctr"/>
          <a:lstStyle/>
          <a:p>
            <a:pPr marL="0" indent="0">
              <a:buNone/>
            </a:pPr>
            <a:r>
              <a:rPr lang="en-US" sz="1400" i="1" dirty="0">
                <a:solidFill>
                  <a:srgbClr val="2E9E8F"/>
                </a:solidFill>
                <a:latin typeface="Calibri" pitchFamily="34" charset="0"/>
                <a:ea typeface="Calibri" pitchFamily="34" charset="-122"/>
                <a:cs typeface="Calibri" pitchFamily="34" charset="-120"/>
              </a:rPr>
              <a:t>Used in MRI tissue segmentation</a:t>
            </a:r>
            <a:r>
              <a:rPr lang="en-US" sz="1150" i="1" dirty="0">
                <a:solidFill>
                  <a:srgbClr val="2E9E8F"/>
                </a:solidFill>
                <a:latin typeface="Calibri" pitchFamily="34" charset="0"/>
                <a:ea typeface="Calibri" pitchFamily="34" charset="-122"/>
                <a:cs typeface="Calibri" pitchFamily="34" charset="-120"/>
              </a:rPr>
              <a:t>.</a:t>
            </a:r>
            <a:endParaRPr lang="en-US" sz="1150" dirty="0"/>
          </a:p>
        </p:txBody>
      </p:sp>
      <p:sp>
        <p:nvSpPr>
          <p:cNvPr id="16" name="Shape 14"/>
          <p:cNvSpPr/>
          <p:nvPr/>
        </p:nvSpPr>
        <p:spPr>
          <a:xfrm>
            <a:off x="8092440" y="1600200"/>
            <a:ext cx="3474720" cy="3017520"/>
          </a:xfrm>
          <a:prstGeom prst="roundRect">
            <a:avLst>
              <a:gd name="adj" fmla="val 3636"/>
            </a:avLst>
          </a:prstGeom>
          <a:solidFill>
            <a:srgbClr val="FFFFFF"/>
          </a:solidFill>
          <a:ln w="12700">
            <a:solidFill>
              <a:srgbClr val="DCE3F0"/>
            </a:solidFill>
            <a:prstDash val="solid"/>
          </a:ln>
          <a:effectLst>
            <a:outerShdw blurRad="127000" dist="25400" dir="5400000" algn="bl" rotWithShape="0">
              <a:srgbClr val="9AA6BF">
                <a:alpha val="35000"/>
              </a:srgbClr>
            </a:outerShdw>
          </a:effectLst>
        </p:spPr>
      </p:sp>
      <p:sp>
        <p:nvSpPr>
          <p:cNvPr id="17" name="Shape 15"/>
          <p:cNvSpPr/>
          <p:nvPr/>
        </p:nvSpPr>
        <p:spPr>
          <a:xfrm>
            <a:off x="8348472" y="1828800"/>
            <a:ext cx="713232" cy="713232"/>
          </a:xfrm>
          <a:prstGeom prst="ellipse">
            <a:avLst/>
          </a:prstGeom>
          <a:solidFill>
            <a:srgbClr val="2F4368"/>
          </a:solidFill>
          <a:ln/>
        </p:spPr>
      </p:sp>
      <p:sp>
        <p:nvSpPr>
          <p:cNvPr id="18" name="Text 16"/>
          <p:cNvSpPr txBox="1"/>
          <p:nvPr/>
        </p:nvSpPr>
        <p:spPr>
          <a:xfrm>
            <a:off x="8348472" y="1828800"/>
            <a:ext cx="713232"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XAI</a:t>
            </a:r>
            <a:endParaRPr lang="en-US" sz="1600" dirty="0"/>
          </a:p>
        </p:txBody>
      </p:sp>
      <p:sp>
        <p:nvSpPr>
          <p:cNvPr id="19" name="Text 17"/>
          <p:cNvSpPr txBox="1"/>
          <p:nvPr/>
        </p:nvSpPr>
        <p:spPr>
          <a:xfrm>
            <a:off x="8348472" y="2670048"/>
            <a:ext cx="2971800" cy="320040"/>
          </a:xfrm>
          <a:prstGeom prst="rect">
            <a:avLst/>
          </a:prstGeom>
          <a:noFill/>
          <a:ln/>
        </p:spPr>
        <p:txBody>
          <a:bodyPr wrap="square" lIns="0" tIns="0" rIns="0" bIns="0" rtlCol="0" anchor="ctr"/>
          <a:lstStyle/>
          <a:p>
            <a:pPr marL="0" indent="0">
              <a:buNone/>
            </a:pPr>
            <a:r>
              <a:rPr lang="en-US" sz="1600" b="1" dirty="0">
                <a:solidFill>
                  <a:srgbClr val="1B2437"/>
                </a:solidFill>
                <a:latin typeface="Cambria" pitchFamily="34" charset="0"/>
                <a:ea typeface="Cambria" pitchFamily="34" charset="-122"/>
                <a:cs typeface="Cambria" pitchFamily="34" charset="-120"/>
              </a:rPr>
              <a:t>Fuzzy explanation layers</a:t>
            </a:r>
            <a:endParaRPr lang="en-US" sz="1600" dirty="0"/>
          </a:p>
        </p:txBody>
      </p:sp>
      <p:sp>
        <p:nvSpPr>
          <p:cNvPr id="20" name="Text 18"/>
          <p:cNvSpPr txBox="1"/>
          <p:nvPr/>
        </p:nvSpPr>
        <p:spPr>
          <a:xfrm>
            <a:off x="8348472" y="3035808"/>
            <a:ext cx="2971800" cy="960120"/>
          </a:xfrm>
          <a:prstGeom prst="rect">
            <a:avLst/>
          </a:prstGeom>
          <a:noFill/>
          <a:ln/>
        </p:spPr>
        <p:txBody>
          <a:bodyPr wrap="square" lIns="0" tIns="0" rIns="0" bIns="0" rtlCol="0" anchor="ctr"/>
          <a:lstStyle/>
          <a:p>
            <a:pPr marL="0" indent="0">
              <a:lnSpc>
                <a:spcPts val="1600"/>
              </a:lnSpc>
              <a:buNone/>
            </a:pPr>
            <a:r>
              <a:rPr lang="en-US" sz="1600" dirty="0">
                <a:solidFill>
                  <a:srgbClr val="6B7A99"/>
                </a:solidFill>
                <a:latin typeface="Calibri" pitchFamily="34" charset="0"/>
                <a:ea typeface="Calibri" pitchFamily="34" charset="-122"/>
                <a:cs typeface="Calibri" pitchFamily="34" charset="-120"/>
              </a:rPr>
              <a:t>A rule base is fitted on top of a trained network so its behaviour can be described in words.</a:t>
            </a:r>
            <a:endParaRPr lang="en-US" sz="1600" dirty="0"/>
          </a:p>
        </p:txBody>
      </p:sp>
      <p:sp>
        <p:nvSpPr>
          <p:cNvPr id="21" name="Text 19"/>
          <p:cNvSpPr txBox="1"/>
          <p:nvPr/>
        </p:nvSpPr>
        <p:spPr>
          <a:xfrm>
            <a:off x="8348472" y="4069080"/>
            <a:ext cx="2971800" cy="457200"/>
          </a:xfrm>
          <a:prstGeom prst="rect">
            <a:avLst/>
          </a:prstGeom>
          <a:noFill/>
          <a:ln/>
        </p:spPr>
        <p:txBody>
          <a:bodyPr wrap="square" lIns="0" tIns="0" rIns="0" bIns="0" rtlCol="0" anchor="ctr"/>
          <a:lstStyle/>
          <a:p>
            <a:pPr marL="0" indent="0">
              <a:buNone/>
            </a:pPr>
            <a:r>
              <a:rPr lang="en-US" sz="1400" i="1" dirty="0">
                <a:solidFill>
                  <a:srgbClr val="2F4368"/>
                </a:solidFill>
                <a:latin typeface="Calibri" pitchFamily="34" charset="0"/>
                <a:ea typeface="Calibri" pitchFamily="34" charset="-122"/>
                <a:cs typeface="Calibri" pitchFamily="34" charset="-120"/>
              </a:rPr>
              <a:t>Turns “0.87 risk” into “high BP AND high glucose”.</a:t>
            </a:r>
            <a:endParaRPr lang="en-US" sz="1400" dirty="0"/>
          </a:p>
        </p:txBody>
      </p:sp>
      <p:sp>
        <p:nvSpPr>
          <p:cNvPr id="22" name="Shape 20"/>
          <p:cNvSpPr/>
          <p:nvPr/>
        </p:nvSpPr>
        <p:spPr>
          <a:xfrm>
            <a:off x="594360" y="4937760"/>
            <a:ext cx="10972800" cy="1280160"/>
          </a:xfrm>
          <a:prstGeom prst="roundRect">
            <a:avLst>
              <a:gd name="adj" fmla="val 8571"/>
            </a:avLst>
          </a:prstGeom>
          <a:solidFill>
            <a:srgbClr val="141C2F"/>
          </a:solidFill>
          <a:ln/>
        </p:spPr>
      </p:sp>
      <p:sp>
        <p:nvSpPr>
          <p:cNvPr id="23" name="Text 21"/>
          <p:cNvSpPr txBox="1"/>
          <p:nvPr/>
        </p:nvSpPr>
        <p:spPr>
          <a:xfrm>
            <a:off x="868680" y="5074920"/>
            <a:ext cx="2011680" cy="320040"/>
          </a:xfrm>
          <a:prstGeom prst="rect">
            <a:avLst/>
          </a:prstGeom>
          <a:noFill/>
          <a:ln/>
        </p:spPr>
        <p:txBody>
          <a:bodyPr wrap="square" lIns="0" tIns="0" rIns="0" bIns="0" rtlCol="0" anchor="ctr"/>
          <a:lstStyle/>
          <a:p>
            <a:pPr marL="0" indent="0">
              <a:buNone/>
            </a:pPr>
            <a:r>
              <a:rPr lang="en-US" b="1" dirty="0">
                <a:solidFill>
                  <a:srgbClr val="E3963E"/>
                </a:solidFill>
                <a:latin typeface="Calibri" pitchFamily="34" charset="0"/>
                <a:ea typeface="Calibri" pitchFamily="34" charset="-122"/>
                <a:cs typeface="Calibri" pitchFamily="34" charset="-120"/>
              </a:rPr>
              <a:t>Inside ANFIS</a:t>
            </a:r>
            <a:endParaRPr lang="en-US" dirty="0"/>
          </a:p>
        </p:txBody>
      </p:sp>
      <p:sp>
        <p:nvSpPr>
          <p:cNvPr id="24" name="Shape 22"/>
          <p:cNvSpPr/>
          <p:nvPr/>
        </p:nvSpPr>
        <p:spPr>
          <a:xfrm>
            <a:off x="3017520" y="5120640"/>
            <a:ext cx="1417320" cy="914400"/>
          </a:xfrm>
          <a:prstGeom prst="roundRect">
            <a:avLst>
              <a:gd name="adj" fmla="val 8000"/>
            </a:avLst>
          </a:prstGeom>
          <a:solidFill>
            <a:srgbClr val="20304F"/>
          </a:solidFill>
          <a:ln w="12700">
            <a:solidFill>
              <a:srgbClr val="3D5480"/>
            </a:solidFill>
            <a:prstDash val="solid"/>
          </a:ln>
        </p:spPr>
      </p:sp>
      <p:sp>
        <p:nvSpPr>
          <p:cNvPr id="25" name="Text 23"/>
          <p:cNvSpPr txBox="1"/>
          <p:nvPr/>
        </p:nvSpPr>
        <p:spPr>
          <a:xfrm>
            <a:off x="3063240" y="5120640"/>
            <a:ext cx="1325880" cy="914400"/>
          </a:xfrm>
          <a:prstGeom prst="rect">
            <a:avLst/>
          </a:prstGeom>
          <a:noFill/>
          <a:ln/>
        </p:spPr>
        <p:txBody>
          <a:bodyPr wrap="square" lIns="0" tIns="0" rIns="0" bIns="0" rtlCol="0" anchor="ctr"/>
          <a:lstStyle/>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Fuzzify</a:t>
            </a:r>
            <a:endParaRPr lang="en-US" sz="1600" dirty="0"/>
          </a:p>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inputs</a:t>
            </a:r>
            <a:endParaRPr lang="en-US" sz="1600" dirty="0"/>
          </a:p>
        </p:txBody>
      </p:sp>
      <p:sp>
        <p:nvSpPr>
          <p:cNvPr id="26" name="Shape 24"/>
          <p:cNvSpPr/>
          <p:nvPr/>
        </p:nvSpPr>
        <p:spPr>
          <a:xfrm>
            <a:off x="4480560" y="5468112"/>
            <a:ext cx="228600" cy="219456"/>
          </a:xfrm>
          <a:prstGeom prst="rightArrow">
            <a:avLst/>
          </a:prstGeom>
          <a:solidFill>
            <a:srgbClr val="E3963E"/>
          </a:solidFill>
          <a:ln/>
        </p:spPr>
      </p:sp>
      <p:sp>
        <p:nvSpPr>
          <p:cNvPr id="27" name="Shape 25"/>
          <p:cNvSpPr/>
          <p:nvPr/>
        </p:nvSpPr>
        <p:spPr>
          <a:xfrm>
            <a:off x="4773168" y="5120640"/>
            <a:ext cx="1417320" cy="914400"/>
          </a:xfrm>
          <a:prstGeom prst="roundRect">
            <a:avLst>
              <a:gd name="adj" fmla="val 8000"/>
            </a:avLst>
          </a:prstGeom>
          <a:solidFill>
            <a:srgbClr val="20304F"/>
          </a:solidFill>
          <a:ln w="12700">
            <a:solidFill>
              <a:srgbClr val="3D5480"/>
            </a:solidFill>
            <a:prstDash val="solid"/>
          </a:ln>
        </p:spPr>
      </p:sp>
      <p:sp>
        <p:nvSpPr>
          <p:cNvPr id="28" name="Text 26"/>
          <p:cNvSpPr txBox="1"/>
          <p:nvPr/>
        </p:nvSpPr>
        <p:spPr>
          <a:xfrm>
            <a:off x="4818888" y="5120640"/>
            <a:ext cx="1325880" cy="914400"/>
          </a:xfrm>
          <a:prstGeom prst="rect">
            <a:avLst/>
          </a:prstGeom>
          <a:noFill/>
          <a:ln/>
        </p:spPr>
        <p:txBody>
          <a:bodyPr wrap="square" lIns="0" tIns="0" rIns="0" bIns="0" rtlCol="0" anchor="ctr"/>
          <a:lstStyle/>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Rule</a:t>
            </a:r>
            <a:endParaRPr lang="en-US" sz="1600" dirty="0"/>
          </a:p>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firing α</a:t>
            </a:r>
            <a:endParaRPr lang="en-US" sz="1600" dirty="0"/>
          </a:p>
        </p:txBody>
      </p:sp>
      <p:sp>
        <p:nvSpPr>
          <p:cNvPr id="29" name="Shape 27"/>
          <p:cNvSpPr/>
          <p:nvPr/>
        </p:nvSpPr>
        <p:spPr>
          <a:xfrm>
            <a:off x="6236208" y="5468112"/>
            <a:ext cx="228600" cy="219456"/>
          </a:xfrm>
          <a:prstGeom prst="rightArrow">
            <a:avLst/>
          </a:prstGeom>
          <a:solidFill>
            <a:srgbClr val="E3963E"/>
          </a:solidFill>
          <a:ln/>
        </p:spPr>
      </p:sp>
      <p:sp>
        <p:nvSpPr>
          <p:cNvPr id="30" name="Shape 28"/>
          <p:cNvSpPr/>
          <p:nvPr/>
        </p:nvSpPr>
        <p:spPr>
          <a:xfrm>
            <a:off x="6528816" y="5120640"/>
            <a:ext cx="1417320" cy="914400"/>
          </a:xfrm>
          <a:prstGeom prst="roundRect">
            <a:avLst>
              <a:gd name="adj" fmla="val 8000"/>
            </a:avLst>
          </a:prstGeom>
          <a:solidFill>
            <a:srgbClr val="20304F"/>
          </a:solidFill>
          <a:ln w="12700">
            <a:solidFill>
              <a:srgbClr val="3D5480"/>
            </a:solidFill>
            <a:prstDash val="solid"/>
          </a:ln>
        </p:spPr>
      </p:sp>
      <p:sp>
        <p:nvSpPr>
          <p:cNvPr id="31" name="Text 29"/>
          <p:cNvSpPr txBox="1"/>
          <p:nvPr/>
        </p:nvSpPr>
        <p:spPr>
          <a:xfrm>
            <a:off x="6574536" y="5120640"/>
            <a:ext cx="1325880" cy="914400"/>
          </a:xfrm>
          <a:prstGeom prst="rect">
            <a:avLst/>
          </a:prstGeom>
          <a:noFill/>
          <a:ln/>
        </p:spPr>
        <p:txBody>
          <a:bodyPr wrap="square" lIns="0" tIns="0" rIns="0" bIns="0" rtlCol="0" anchor="ctr"/>
          <a:lstStyle/>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Normalise</a:t>
            </a:r>
            <a:endParaRPr lang="en-US" sz="1600" dirty="0"/>
          </a:p>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α</a:t>
            </a:r>
            <a:endParaRPr lang="en-US" sz="1600" dirty="0"/>
          </a:p>
        </p:txBody>
      </p:sp>
      <p:sp>
        <p:nvSpPr>
          <p:cNvPr id="32" name="Shape 30"/>
          <p:cNvSpPr/>
          <p:nvPr/>
        </p:nvSpPr>
        <p:spPr>
          <a:xfrm>
            <a:off x="7991856" y="5468112"/>
            <a:ext cx="228600" cy="219456"/>
          </a:xfrm>
          <a:prstGeom prst="rightArrow">
            <a:avLst/>
          </a:prstGeom>
          <a:solidFill>
            <a:srgbClr val="E3963E"/>
          </a:solidFill>
          <a:ln/>
        </p:spPr>
      </p:sp>
      <p:sp>
        <p:nvSpPr>
          <p:cNvPr id="33" name="Shape 31"/>
          <p:cNvSpPr/>
          <p:nvPr/>
        </p:nvSpPr>
        <p:spPr>
          <a:xfrm>
            <a:off x="8284464" y="5120640"/>
            <a:ext cx="1417320" cy="914400"/>
          </a:xfrm>
          <a:prstGeom prst="roundRect">
            <a:avLst>
              <a:gd name="adj" fmla="val 8000"/>
            </a:avLst>
          </a:prstGeom>
          <a:solidFill>
            <a:srgbClr val="20304F"/>
          </a:solidFill>
          <a:ln w="12700">
            <a:solidFill>
              <a:srgbClr val="3D5480"/>
            </a:solidFill>
            <a:prstDash val="solid"/>
          </a:ln>
        </p:spPr>
      </p:sp>
      <p:sp>
        <p:nvSpPr>
          <p:cNvPr id="34" name="Text 32"/>
          <p:cNvSpPr txBox="1"/>
          <p:nvPr/>
        </p:nvSpPr>
        <p:spPr>
          <a:xfrm>
            <a:off x="8330184" y="5120640"/>
            <a:ext cx="1325880" cy="914400"/>
          </a:xfrm>
          <a:prstGeom prst="rect">
            <a:avLst/>
          </a:prstGeom>
          <a:noFill/>
          <a:ln/>
        </p:spPr>
        <p:txBody>
          <a:bodyPr wrap="square" lIns="0" tIns="0" rIns="0" bIns="0" rtlCol="0" anchor="ctr"/>
          <a:lstStyle/>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Weighted</a:t>
            </a:r>
            <a:endParaRPr lang="en-US" sz="1600" dirty="0"/>
          </a:p>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consequents</a:t>
            </a:r>
            <a:endParaRPr lang="en-US" sz="1600" dirty="0"/>
          </a:p>
        </p:txBody>
      </p:sp>
      <p:sp>
        <p:nvSpPr>
          <p:cNvPr id="35" name="Shape 33"/>
          <p:cNvSpPr/>
          <p:nvPr/>
        </p:nvSpPr>
        <p:spPr>
          <a:xfrm>
            <a:off x="9747504" y="5468112"/>
            <a:ext cx="228600" cy="219456"/>
          </a:xfrm>
          <a:prstGeom prst="rightArrow">
            <a:avLst/>
          </a:prstGeom>
          <a:solidFill>
            <a:srgbClr val="E3963E"/>
          </a:solidFill>
          <a:ln/>
        </p:spPr>
      </p:sp>
      <p:sp>
        <p:nvSpPr>
          <p:cNvPr id="36" name="Shape 34"/>
          <p:cNvSpPr/>
          <p:nvPr/>
        </p:nvSpPr>
        <p:spPr>
          <a:xfrm>
            <a:off x="10040112" y="5120640"/>
            <a:ext cx="1417320" cy="914400"/>
          </a:xfrm>
          <a:prstGeom prst="roundRect">
            <a:avLst>
              <a:gd name="adj" fmla="val 8000"/>
            </a:avLst>
          </a:prstGeom>
          <a:solidFill>
            <a:srgbClr val="20304F"/>
          </a:solidFill>
          <a:ln w="12700">
            <a:solidFill>
              <a:srgbClr val="3D5480"/>
            </a:solidFill>
            <a:prstDash val="solid"/>
          </a:ln>
        </p:spPr>
      </p:sp>
      <p:sp>
        <p:nvSpPr>
          <p:cNvPr id="37" name="Text 35"/>
          <p:cNvSpPr txBox="1"/>
          <p:nvPr/>
        </p:nvSpPr>
        <p:spPr>
          <a:xfrm>
            <a:off x="10085832" y="5120640"/>
            <a:ext cx="1325880" cy="914400"/>
          </a:xfrm>
          <a:prstGeom prst="rect">
            <a:avLst/>
          </a:prstGeom>
          <a:noFill/>
          <a:ln/>
        </p:spPr>
        <p:txBody>
          <a:bodyPr wrap="square" lIns="0" tIns="0" rIns="0" bIns="0" rtlCol="0" anchor="ctr"/>
          <a:lstStyle/>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Sum →</a:t>
            </a:r>
            <a:endParaRPr lang="en-US" sz="1600" dirty="0"/>
          </a:p>
          <a:p>
            <a:pPr marL="0" indent="0" algn="ctr">
              <a:lnSpc>
                <a:spcPts val="1300"/>
              </a:lnSpc>
              <a:buNone/>
            </a:pPr>
            <a:r>
              <a:rPr lang="en-US" sz="1600" dirty="0">
                <a:solidFill>
                  <a:srgbClr val="D6DFF0"/>
                </a:solidFill>
                <a:latin typeface="Calibri" pitchFamily="34" charset="0"/>
                <a:ea typeface="Calibri" pitchFamily="34" charset="-122"/>
                <a:cs typeface="Calibri" pitchFamily="34" charset="-120"/>
              </a:rPr>
              <a:t>output</a:t>
            </a:r>
            <a:endParaRPr lang="en-US" sz="1600" dirty="0"/>
          </a:p>
        </p:txBody>
      </p:sp>
      <p:sp>
        <p:nvSpPr>
          <p:cNvPr id="38" name="Text 36"/>
          <p:cNvSpPr txBox="1"/>
          <p:nvPr/>
        </p:nvSpPr>
        <p:spPr>
          <a:xfrm>
            <a:off x="868680" y="5440680"/>
            <a:ext cx="2103120" cy="548640"/>
          </a:xfrm>
          <a:prstGeom prst="rect">
            <a:avLst/>
          </a:prstGeom>
          <a:noFill/>
          <a:ln/>
        </p:spPr>
        <p:txBody>
          <a:bodyPr wrap="square" lIns="0" tIns="0" rIns="0" bIns="0" rtlCol="0" anchor="ctr"/>
          <a:lstStyle/>
          <a:p>
            <a:pPr marL="0" indent="0">
              <a:lnSpc>
                <a:spcPts val="1200"/>
              </a:lnSpc>
              <a:buNone/>
            </a:pPr>
            <a:r>
              <a:rPr lang="en-US" sz="1400" i="1" dirty="0">
                <a:solidFill>
                  <a:srgbClr val="8FA0C0"/>
                </a:solidFill>
                <a:latin typeface="Calibri" pitchFamily="34" charset="0"/>
                <a:ea typeface="Calibri" pitchFamily="34" charset="-122"/>
                <a:cs typeface="Calibri" pitchFamily="34" charset="-120"/>
              </a:rPr>
              <a:t>layers 4–5 trained by least squares, layers 1–2 by backpropagation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C2F"/>
        </a:solidFill>
        <a:effectLst/>
      </p:bgPr>
    </p:bg>
    <p:spTree>
      <p:nvGrpSpPr>
        <p:cNvPr id="1" name=""/>
        <p:cNvGrpSpPr/>
        <p:nvPr/>
      </p:nvGrpSpPr>
      <p:grpSpPr>
        <a:xfrm>
          <a:off x="0" y="0"/>
          <a:ext cx="0" cy="0"/>
          <a:chOff x="0" y="0"/>
          <a:chExt cx="0" cy="0"/>
        </a:xfrm>
      </p:grpSpPr>
      <p:sp>
        <p:nvSpPr>
          <p:cNvPr id="2" name="Text 0"/>
          <p:cNvSpPr txBox="1"/>
          <p:nvPr/>
        </p:nvSpPr>
        <p:spPr>
          <a:xfrm>
            <a:off x="594360" y="502920"/>
            <a:ext cx="7315200" cy="274320"/>
          </a:xfrm>
          <a:prstGeom prst="rect">
            <a:avLst/>
          </a:prstGeom>
          <a:noFill/>
          <a:ln/>
        </p:spPr>
        <p:txBody>
          <a:bodyPr wrap="square" lIns="0" tIns="0" rIns="0" bIns="0" rtlCol="0" anchor="ctr"/>
          <a:lstStyle/>
          <a:p>
            <a:pPr marL="0" indent="0">
              <a:buNone/>
            </a:pPr>
            <a:r>
              <a:rPr lang="en-US" b="1" kern="0" spc="200" dirty="0">
                <a:solidFill>
                  <a:srgbClr val="E3963E"/>
                </a:solidFill>
                <a:latin typeface="Calibri" pitchFamily="34" charset="0"/>
                <a:ea typeface="Calibri" pitchFamily="34" charset="-122"/>
                <a:cs typeface="Calibri" pitchFamily="34" charset="-120"/>
              </a:rPr>
              <a:t>WHERE YOU ALREADY MEET IT</a:t>
            </a:r>
            <a:endParaRPr lang="en-US" dirty="0"/>
          </a:p>
        </p:txBody>
      </p:sp>
      <p:sp>
        <p:nvSpPr>
          <p:cNvPr id="3" name="Text 1"/>
          <p:cNvSpPr txBox="1"/>
          <p:nvPr/>
        </p:nvSpPr>
        <p:spPr>
          <a:xfrm>
            <a:off x="594360" y="777240"/>
            <a:ext cx="1088136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Quietly running in hardware you use every week</a:t>
            </a:r>
            <a:endParaRPr lang="en-US" sz="3000" dirty="0"/>
          </a:p>
        </p:txBody>
      </p:sp>
      <p:sp>
        <p:nvSpPr>
          <p:cNvPr id="4" name="Shape 2"/>
          <p:cNvSpPr/>
          <p:nvPr/>
        </p:nvSpPr>
        <p:spPr>
          <a:xfrm>
            <a:off x="594360" y="1572768"/>
            <a:ext cx="3474720" cy="1188720"/>
          </a:xfrm>
          <a:prstGeom prst="roundRect">
            <a:avLst>
              <a:gd name="adj" fmla="val 7692"/>
            </a:avLst>
          </a:prstGeom>
          <a:solidFill>
            <a:srgbClr val="1E2A44"/>
          </a:solidFill>
          <a:ln w="12700">
            <a:solidFill>
              <a:srgbClr val="2F4368"/>
            </a:solidFill>
            <a:prstDash val="solid"/>
          </a:ln>
        </p:spPr>
      </p:sp>
      <p:sp>
        <p:nvSpPr>
          <p:cNvPr id="5" name="Text 3"/>
          <p:cNvSpPr txBox="1"/>
          <p:nvPr/>
        </p:nvSpPr>
        <p:spPr>
          <a:xfrm>
            <a:off x="822960" y="1691640"/>
            <a:ext cx="3063240" cy="274320"/>
          </a:xfrm>
          <a:prstGeom prst="rect">
            <a:avLst/>
          </a:prstGeom>
          <a:noFill/>
          <a:ln/>
        </p:spPr>
        <p:txBody>
          <a:bodyPr wrap="square" lIns="0" tIns="0" rIns="0" bIns="0" rtlCol="0" anchor="ctr"/>
          <a:lstStyle/>
          <a:p>
            <a:pPr marL="0" indent="0">
              <a:buNone/>
            </a:pPr>
            <a:r>
              <a:rPr lang="en-US" sz="1600" b="1" dirty="0">
                <a:solidFill>
                  <a:srgbClr val="E3963E"/>
                </a:solidFill>
                <a:latin typeface="Calibri" pitchFamily="34" charset="0"/>
                <a:ea typeface="Calibri" pitchFamily="34" charset="-122"/>
                <a:cs typeface="Calibri" pitchFamily="34" charset="-120"/>
              </a:rPr>
              <a:t>Washing machines</a:t>
            </a:r>
            <a:endParaRPr lang="en-US" sz="1600" dirty="0"/>
          </a:p>
        </p:txBody>
      </p:sp>
      <p:sp>
        <p:nvSpPr>
          <p:cNvPr id="6" name="Text 4"/>
          <p:cNvSpPr txBox="1"/>
          <p:nvPr/>
        </p:nvSpPr>
        <p:spPr>
          <a:xfrm>
            <a:off x="822960" y="1984248"/>
            <a:ext cx="3063240" cy="685800"/>
          </a:xfrm>
          <a:prstGeom prst="rect">
            <a:avLst/>
          </a:prstGeom>
          <a:noFill/>
          <a:ln/>
        </p:spPr>
        <p:txBody>
          <a:bodyPr wrap="square" lIns="0" tIns="0" rIns="0" bIns="0" rtlCol="0" anchor="ctr"/>
          <a:lstStyle/>
          <a:p>
            <a:pPr marL="0" indent="0">
              <a:lnSpc>
                <a:spcPts val="1400"/>
              </a:lnSpc>
              <a:buNone/>
            </a:pPr>
            <a:r>
              <a:rPr lang="en-US" sz="1400" dirty="0">
                <a:solidFill>
                  <a:srgbClr val="B9C6DE"/>
                </a:solidFill>
                <a:latin typeface="Calibri" pitchFamily="34" charset="0"/>
                <a:ea typeface="Calibri" pitchFamily="34" charset="-122"/>
                <a:cs typeface="Calibri" pitchFamily="34" charset="-120"/>
              </a:rPr>
              <a:t>Load, fabric and dirt level set the cycle time — Panasonic and Hitachi shipped this from the late 1980s.</a:t>
            </a:r>
            <a:endParaRPr lang="en-US" sz="1400" dirty="0"/>
          </a:p>
        </p:txBody>
      </p:sp>
      <p:sp>
        <p:nvSpPr>
          <p:cNvPr id="7" name="Shape 5"/>
          <p:cNvSpPr/>
          <p:nvPr/>
        </p:nvSpPr>
        <p:spPr>
          <a:xfrm>
            <a:off x="4343400" y="1572768"/>
            <a:ext cx="3474720" cy="1188720"/>
          </a:xfrm>
          <a:prstGeom prst="roundRect">
            <a:avLst>
              <a:gd name="adj" fmla="val 7692"/>
            </a:avLst>
          </a:prstGeom>
          <a:solidFill>
            <a:srgbClr val="1E2A44"/>
          </a:solidFill>
          <a:ln w="12700">
            <a:solidFill>
              <a:srgbClr val="2F4368"/>
            </a:solidFill>
            <a:prstDash val="solid"/>
          </a:ln>
        </p:spPr>
      </p:sp>
      <p:sp>
        <p:nvSpPr>
          <p:cNvPr id="8" name="Text 6"/>
          <p:cNvSpPr txBox="1"/>
          <p:nvPr/>
        </p:nvSpPr>
        <p:spPr>
          <a:xfrm>
            <a:off x="4572000" y="1691640"/>
            <a:ext cx="3063240" cy="274320"/>
          </a:xfrm>
          <a:prstGeom prst="rect">
            <a:avLst/>
          </a:prstGeom>
          <a:noFill/>
          <a:ln/>
        </p:spPr>
        <p:txBody>
          <a:bodyPr wrap="square" lIns="0" tIns="0" rIns="0" bIns="0" rtlCol="0" anchor="ctr"/>
          <a:lstStyle/>
          <a:p>
            <a:pPr marL="0" indent="0">
              <a:buNone/>
            </a:pPr>
            <a:r>
              <a:rPr lang="en-US" sz="1600" b="1" dirty="0">
                <a:solidFill>
                  <a:srgbClr val="E3963E"/>
                </a:solidFill>
                <a:latin typeface="Calibri" pitchFamily="34" charset="0"/>
                <a:ea typeface="Calibri" pitchFamily="34" charset="-122"/>
                <a:cs typeface="Calibri" pitchFamily="34" charset="-120"/>
              </a:rPr>
              <a:t>Camera autofocus</a:t>
            </a:r>
            <a:endParaRPr lang="en-US" sz="1600" dirty="0"/>
          </a:p>
        </p:txBody>
      </p:sp>
      <p:sp>
        <p:nvSpPr>
          <p:cNvPr id="9" name="Text 7"/>
          <p:cNvSpPr txBox="1"/>
          <p:nvPr/>
        </p:nvSpPr>
        <p:spPr>
          <a:xfrm>
            <a:off x="4572000" y="1984248"/>
            <a:ext cx="3063240" cy="685800"/>
          </a:xfrm>
          <a:prstGeom prst="rect">
            <a:avLst/>
          </a:prstGeom>
          <a:noFill/>
          <a:ln/>
        </p:spPr>
        <p:txBody>
          <a:bodyPr wrap="square" lIns="0" tIns="0" rIns="0" bIns="0" rtlCol="0" anchor="ctr"/>
          <a:lstStyle/>
          <a:p>
            <a:pPr marL="0" indent="0">
              <a:lnSpc>
                <a:spcPts val="1400"/>
              </a:lnSpc>
              <a:buNone/>
            </a:pPr>
            <a:r>
              <a:rPr lang="en-US" sz="1400" dirty="0">
                <a:solidFill>
                  <a:srgbClr val="B9C6DE"/>
                </a:solidFill>
                <a:latin typeface="Calibri" pitchFamily="34" charset="0"/>
                <a:ea typeface="Calibri" pitchFamily="34" charset="-122"/>
                <a:cs typeface="Calibri" pitchFamily="34" charset="-120"/>
              </a:rPr>
              <a:t>Contrast and motion cues are blended to decide how far to drive the lens.</a:t>
            </a:r>
            <a:endParaRPr lang="en-US" sz="1400" dirty="0"/>
          </a:p>
        </p:txBody>
      </p:sp>
      <p:sp>
        <p:nvSpPr>
          <p:cNvPr id="10" name="Shape 8"/>
          <p:cNvSpPr/>
          <p:nvPr/>
        </p:nvSpPr>
        <p:spPr>
          <a:xfrm>
            <a:off x="8092440" y="1572768"/>
            <a:ext cx="3474720" cy="1188720"/>
          </a:xfrm>
          <a:prstGeom prst="roundRect">
            <a:avLst>
              <a:gd name="adj" fmla="val 7692"/>
            </a:avLst>
          </a:prstGeom>
          <a:solidFill>
            <a:srgbClr val="1E2A44"/>
          </a:solidFill>
          <a:ln w="12700">
            <a:solidFill>
              <a:srgbClr val="2F4368"/>
            </a:solidFill>
            <a:prstDash val="solid"/>
          </a:ln>
        </p:spPr>
      </p:sp>
      <p:sp>
        <p:nvSpPr>
          <p:cNvPr id="11" name="Text 9"/>
          <p:cNvSpPr txBox="1"/>
          <p:nvPr/>
        </p:nvSpPr>
        <p:spPr>
          <a:xfrm>
            <a:off x="8321040" y="1691640"/>
            <a:ext cx="3063240" cy="274320"/>
          </a:xfrm>
          <a:prstGeom prst="rect">
            <a:avLst/>
          </a:prstGeom>
          <a:noFill/>
          <a:ln/>
        </p:spPr>
        <p:txBody>
          <a:bodyPr wrap="square" lIns="0" tIns="0" rIns="0" bIns="0" rtlCol="0" anchor="ctr"/>
          <a:lstStyle/>
          <a:p>
            <a:pPr marL="0" indent="0">
              <a:buNone/>
            </a:pPr>
            <a:r>
              <a:rPr lang="en-US" sz="1600" b="1" dirty="0">
                <a:solidFill>
                  <a:srgbClr val="E3963E"/>
                </a:solidFill>
                <a:latin typeface="Calibri" pitchFamily="34" charset="0"/>
                <a:ea typeface="Calibri" pitchFamily="34" charset="-122"/>
                <a:cs typeface="Calibri" pitchFamily="34" charset="-120"/>
              </a:rPr>
              <a:t>Sendai subway</a:t>
            </a:r>
            <a:endParaRPr lang="en-US" sz="1600" dirty="0"/>
          </a:p>
        </p:txBody>
      </p:sp>
      <p:sp>
        <p:nvSpPr>
          <p:cNvPr id="12" name="Text 10"/>
          <p:cNvSpPr txBox="1"/>
          <p:nvPr/>
        </p:nvSpPr>
        <p:spPr>
          <a:xfrm>
            <a:off x="8321040" y="1984248"/>
            <a:ext cx="3063240" cy="685800"/>
          </a:xfrm>
          <a:prstGeom prst="rect">
            <a:avLst/>
          </a:prstGeom>
          <a:noFill/>
          <a:ln/>
        </p:spPr>
        <p:txBody>
          <a:bodyPr wrap="square" lIns="0" tIns="0" rIns="0" bIns="0" rtlCol="0" anchor="ctr"/>
          <a:lstStyle/>
          <a:p>
            <a:pPr marL="0" indent="0">
              <a:lnSpc>
                <a:spcPts val="1400"/>
              </a:lnSpc>
              <a:buNone/>
            </a:pPr>
            <a:r>
              <a:rPr lang="en-US" sz="1400" dirty="0">
                <a:solidFill>
                  <a:srgbClr val="B9C6DE"/>
                </a:solidFill>
                <a:latin typeface="Calibri" pitchFamily="34" charset="0"/>
                <a:ea typeface="Calibri" pitchFamily="34" charset="-122"/>
                <a:cs typeface="Calibri" pitchFamily="34" charset="-120"/>
              </a:rPr>
              <a:t>Fuzzy braking since 1987; passengers report noticeably smoother stops than manual driving.</a:t>
            </a:r>
            <a:endParaRPr lang="en-US" sz="1400" dirty="0"/>
          </a:p>
        </p:txBody>
      </p:sp>
      <p:sp>
        <p:nvSpPr>
          <p:cNvPr id="13" name="Shape 11"/>
          <p:cNvSpPr/>
          <p:nvPr/>
        </p:nvSpPr>
        <p:spPr>
          <a:xfrm>
            <a:off x="594360" y="2990088"/>
            <a:ext cx="3474720" cy="1188720"/>
          </a:xfrm>
          <a:prstGeom prst="roundRect">
            <a:avLst>
              <a:gd name="adj" fmla="val 7692"/>
            </a:avLst>
          </a:prstGeom>
          <a:solidFill>
            <a:srgbClr val="1E2A44"/>
          </a:solidFill>
          <a:ln w="12700">
            <a:solidFill>
              <a:srgbClr val="2F4368"/>
            </a:solidFill>
            <a:prstDash val="solid"/>
          </a:ln>
        </p:spPr>
      </p:sp>
      <p:sp>
        <p:nvSpPr>
          <p:cNvPr id="14" name="Text 12"/>
          <p:cNvSpPr txBox="1"/>
          <p:nvPr/>
        </p:nvSpPr>
        <p:spPr>
          <a:xfrm>
            <a:off x="822960" y="3108960"/>
            <a:ext cx="3063240" cy="274320"/>
          </a:xfrm>
          <a:prstGeom prst="rect">
            <a:avLst/>
          </a:prstGeom>
          <a:noFill/>
          <a:ln/>
        </p:spPr>
        <p:txBody>
          <a:bodyPr wrap="square" lIns="0" tIns="0" rIns="0" bIns="0" rtlCol="0" anchor="ctr"/>
          <a:lstStyle/>
          <a:p>
            <a:pPr marL="0" indent="0">
              <a:buNone/>
            </a:pPr>
            <a:r>
              <a:rPr lang="en-US" sz="1600" b="1" dirty="0">
                <a:solidFill>
                  <a:srgbClr val="E3963E"/>
                </a:solidFill>
                <a:latin typeface="Calibri" pitchFamily="34" charset="0"/>
                <a:ea typeface="Calibri" pitchFamily="34" charset="-122"/>
                <a:cs typeface="Calibri" pitchFamily="34" charset="-120"/>
              </a:rPr>
              <a:t>Anti-lock braking</a:t>
            </a:r>
            <a:endParaRPr lang="en-US" sz="1600" dirty="0"/>
          </a:p>
        </p:txBody>
      </p:sp>
      <p:sp>
        <p:nvSpPr>
          <p:cNvPr id="15" name="Text 13"/>
          <p:cNvSpPr txBox="1"/>
          <p:nvPr/>
        </p:nvSpPr>
        <p:spPr>
          <a:xfrm>
            <a:off x="822960" y="3401568"/>
            <a:ext cx="3063240" cy="685800"/>
          </a:xfrm>
          <a:prstGeom prst="rect">
            <a:avLst/>
          </a:prstGeom>
          <a:noFill/>
          <a:ln/>
        </p:spPr>
        <p:txBody>
          <a:bodyPr wrap="square" lIns="0" tIns="0" rIns="0" bIns="0" rtlCol="0" anchor="ctr"/>
          <a:lstStyle/>
          <a:p>
            <a:pPr marL="0" indent="0">
              <a:lnSpc>
                <a:spcPts val="1400"/>
              </a:lnSpc>
              <a:buNone/>
            </a:pPr>
            <a:r>
              <a:rPr lang="en-US" sz="1400" dirty="0">
                <a:solidFill>
                  <a:srgbClr val="B9C6DE"/>
                </a:solidFill>
                <a:latin typeface="Calibri" pitchFamily="34" charset="0"/>
                <a:ea typeface="Calibri" pitchFamily="34" charset="-122"/>
                <a:cs typeface="Calibri" pitchFamily="34" charset="-120"/>
              </a:rPr>
              <a:t>Slip ratio and wheel deceleration are graded, not thresholded.</a:t>
            </a:r>
            <a:endParaRPr lang="en-US" sz="1400" dirty="0"/>
          </a:p>
        </p:txBody>
      </p:sp>
      <p:sp>
        <p:nvSpPr>
          <p:cNvPr id="16" name="Shape 14"/>
          <p:cNvSpPr/>
          <p:nvPr/>
        </p:nvSpPr>
        <p:spPr>
          <a:xfrm>
            <a:off x="4343400" y="2990088"/>
            <a:ext cx="3474720" cy="1188720"/>
          </a:xfrm>
          <a:prstGeom prst="roundRect">
            <a:avLst>
              <a:gd name="adj" fmla="val 7692"/>
            </a:avLst>
          </a:prstGeom>
          <a:solidFill>
            <a:srgbClr val="1E2A44"/>
          </a:solidFill>
          <a:ln w="12700">
            <a:solidFill>
              <a:srgbClr val="2F4368"/>
            </a:solidFill>
            <a:prstDash val="solid"/>
          </a:ln>
        </p:spPr>
      </p:sp>
      <p:sp>
        <p:nvSpPr>
          <p:cNvPr id="17" name="Text 15"/>
          <p:cNvSpPr txBox="1"/>
          <p:nvPr/>
        </p:nvSpPr>
        <p:spPr>
          <a:xfrm>
            <a:off x="4572000" y="3108960"/>
            <a:ext cx="3063240" cy="274320"/>
          </a:xfrm>
          <a:prstGeom prst="rect">
            <a:avLst/>
          </a:prstGeom>
          <a:noFill/>
          <a:ln/>
        </p:spPr>
        <p:txBody>
          <a:bodyPr wrap="square" lIns="0" tIns="0" rIns="0" bIns="0" rtlCol="0" anchor="ctr"/>
          <a:lstStyle/>
          <a:p>
            <a:pPr marL="0" indent="0">
              <a:buNone/>
            </a:pPr>
            <a:r>
              <a:rPr lang="en-US" sz="1600" b="1" dirty="0">
                <a:solidFill>
                  <a:srgbClr val="E3963E"/>
                </a:solidFill>
                <a:latin typeface="Calibri" pitchFamily="34" charset="0"/>
                <a:ea typeface="Calibri" pitchFamily="34" charset="-122"/>
                <a:cs typeface="Calibri" pitchFamily="34" charset="-120"/>
              </a:rPr>
              <a:t>Medical decision aids</a:t>
            </a:r>
            <a:endParaRPr lang="en-US" sz="1600" dirty="0"/>
          </a:p>
        </p:txBody>
      </p:sp>
      <p:sp>
        <p:nvSpPr>
          <p:cNvPr id="18" name="Text 16"/>
          <p:cNvSpPr txBox="1"/>
          <p:nvPr/>
        </p:nvSpPr>
        <p:spPr>
          <a:xfrm>
            <a:off x="4572000" y="3401568"/>
            <a:ext cx="3063240" cy="685800"/>
          </a:xfrm>
          <a:prstGeom prst="rect">
            <a:avLst/>
          </a:prstGeom>
          <a:noFill/>
          <a:ln/>
        </p:spPr>
        <p:txBody>
          <a:bodyPr wrap="square" lIns="0" tIns="0" rIns="0" bIns="0" rtlCol="0" anchor="ctr"/>
          <a:lstStyle/>
          <a:p>
            <a:pPr marL="0" indent="0">
              <a:lnSpc>
                <a:spcPts val="1400"/>
              </a:lnSpc>
              <a:buNone/>
            </a:pPr>
            <a:r>
              <a:rPr lang="en-US" sz="1400" dirty="0">
                <a:solidFill>
                  <a:srgbClr val="B9C6DE"/>
                </a:solidFill>
                <a:latin typeface="Calibri" pitchFamily="34" charset="0"/>
                <a:ea typeface="Calibri" pitchFamily="34" charset="-122"/>
                <a:cs typeface="Calibri" pitchFamily="34" charset="-120"/>
              </a:rPr>
              <a:t>Symptom severity is naturally vague; rules stay readable for clinicians.</a:t>
            </a:r>
            <a:endParaRPr lang="en-US" sz="1400" dirty="0"/>
          </a:p>
        </p:txBody>
      </p:sp>
      <p:sp>
        <p:nvSpPr>
          <p:cNvPr id="19" name="Shape 17"/>
          <p:cNvSpPr/>
          <p:nvPr/>
        </p:nvSpPr>
        <p:spPr>
          <a:xfrm>
            <a:off x="8092440" y="2990088"/>
            <a:ext cx="3474720" cy="1188720"/>
          </a:xfrm>
          <a:prstGeom prst="roundRect">
            <a:avLst>
              <a:gd name="adj" fmla="val 7692"/>
            </a:avLst>
          </a:prstGeom>
          <a:solidFill>
            <a:srgbClr val="1E2A44"/>
          </a:solidFill>
          <a:ln w="12700">
            <a:solidFill>
              <a:srgbClr val="2F4368"/>
            </a:solidFill>
            <a:prstDash val="solid"/>
          </a:ln>
        </p:spPr>
      </p:sp>
      <p:sp>
        <p:nvSpPr>
          <p:cNvPr id="20" name="Text 18"/>
          <p:cNvSpPr txBox="1"/>
          <p:nvPr/>
        </p:nvSpPr>
        <p:spPr>
          <a:xfrm>
            <a:off x="8321040" y="3108960"/>
            <a:ext cx="3063240" cy="274320"/>
          </a:xfrm>
          <a:prstGeom prst="rect">
            <a:avLst/>
          </a:prstGeom>
          <a:noFill/>
          <a:ln/>
        </p:spPr>
        <p:txBody>
          <a:bodyPr wrap="square" lIns="0" tIns="0" rIns="0" bIns="0" rtlCol="0" anchor="ctr"/>
          <a:lstStyle/>
          <a:p>
            <a:pPr marL="0" indent="0">
              <a:buNone/>
            </a:pPr>
            <a:r>
              <a:rPr lang="en-US" sz="1600" b="1" dirty="0">
                <a:solidFill>
                  <a:srgbClr val="E3963E"/>
                </a:solidFill>
                <a:latin typeface="Calibri" pitchFamily="34" charset="0"/>
                <a:ea typeface="Calibri" pitchFamily="34" charset="-122"/>
                <a:cs typeface="Calibri" pitchFamily="34" charset="-120"/>
              </a:rPr>
              <a:t>Traffic signal control</a:t>
            </a:r>
            <a:endParaRPr lang="en-US" sz="1600" dirty="0"/>
          </a:p>
        </p:txBody>
      </p:sp>
      <p:sp>
        <p:nvSpPr>
          <p:cNvPr id="21" name="Text 19"/>
          <p:cNvSpPr txBox="1"/>
          <p:nvPr/>
        </p:nvSpPr>
        <p:spPr>
          <a:xfrm>
            <a:off x="8321040" y="3401568"/>
            <a:ext cx="3063240" cy="685800"/>
          </a:xfrm>
          <a:prstGeom prst="rect">
            <a:avLst/>
          </a:prstGeom>
          <a:noFill/>
          <a:ln/>
        </p:spPr>
        <p:txBody>
          <a:bodyPr wrap="square" lIns="0" tIns="0" rIns="0" bIns="0" rtlCol="0" anchor="ctr"/>
          <a:lstStyle/>
          <a:p>
            <a:pPr marL="0" indent="0">
              <a:lnSpc>
                <a:spcPts val="1400"/>
              </a:lnSpc>
              <a:buNone/>
            </a:pPr>
            <a:r>
              <a:rPr lang="en-US" sz="1400" dirty="0">
                <a:solidFill>
                  <a:srgbClr val="B9C6DE"/>
                </a:solidFill>
                <a:latin typeface="Calibri" pitchFamily="34" charset="0"/>
                <a:ea typeface="Calibri" pitchFamily="34" charset="-122"/>
                <a:cs typeface="Calibri" pitchFamily="34" charset="-120"/>
              </a:rPr>
              <a:t>Queue length and waiting time in degrees rather than fixed cut-offs.</a:t>
            </a:r>
            <a:endParaRPr lang="en-US" sz="1400" dirty="0"/>
          </a:p>
        </p:txBody>
      </p:sp>
      <p:sp>
        <p:nvSpPr>
          <p:cNvPr id="22" name="Shape 20"/>
          <p:cNvSpPr/>
          <p:nvPr/>
        </p:nvSpPr>
        <p:spPr>
          <a:xfrm>
            <a:off x="594360" y="4617720"/>
            <a:ext cx="10972800" cy="1325880"/>
          </a:xfrm>
          <a:prstGeom prst="roundRect">
            <a:avLst>
              <a:gd name="adj" fmla="val 8276"/>
            </a:avLst>
          </a:prstGeom>
          <a:solidFill>
            <a:srgbClr val="E3963E"/>
          </a:solidFill>
          <a:ln/>
        </p:spPr>
      </p:sp>
      <p:sp>
        <p:nvSpPr>
          <p:cNvPr id="23" name="Text 21"/>
          <p:cNvSpPr txBox="1"/>
          <p:nvPr/>
        </p:nvSpPr>
        <p:spPr>
          <a:xfrm>
            <a:off x="868680" y="4754880"/>
            <a:ext cx="1645920" cy="320040"/>
          </a:xfrm>
          <a:prstGeom prst="rect">
            <a:avLst/>
          </a:prstGeom>
          <a:noFill/>
          <a:ln/>
        </p:spPr>
        <p:txBody>
          <a:bodyPr wrap="square" lIns="0" tIns="0" rIns="0" bIns="0" rtlCol="0" anchor="ctr"/>
          <a:lstStyle/>
          <a:p>
            <a:pPr marL="0" indent="0">
              <a:buNone/>
            </a:pPr>
            <a:r>
              <a:rPr lang="en-US" b="1" dirty="0">
                <a:solidFill>
                  <a:srgbClr val="6B4A16"/>
                </a:solidFill>
                <a:latin typeface="Calibri" pitchFamily="34" charset="0"/>
                <a:ea typeface="Calibri" pitchFamily="34" charset="-122"/>
                <a:cs typeface="Calibri" pitchFamily="34" charset="-120"/>
              </a:rPr>
              <a:t>Takeaway</a:t>
            </a:r>
            <a:endParaRPr lang="en-US" dirty="0"/>
          </a:p>
        </p:txBody>
      </p:sp>
      <p:sp>
        <p:nvSpPr>
          <p:cNvPr id="24" name="Text 22"/>
          <p:cNvSpPr txBox="1"/>
          <p:nvPr/>
        </p:nvSpPr>
        <p:spPr>
          <a:xfrm>
            <a:off x="868680" y="5047488"/>
            <a:ext cx="10515600" cy="777240"/>
          </a:xfrm>
          <a:prstGeom prst="rect">
            <a:avLst/>
          </a:prstGeom>
          <a:noFill/>
          <a:ln/>
        </p:spPr>
        <p:txBody>
          <a:bodyPr wrap="square" lIns="0" tIns="0" rIns="0" bIns="0" rtlCol="0" anchor="ctr"/>
          <a:lstStyle/>
          <a:p>
            <a:pPr marL="0" indent="0">
              <a:lnSpc>
                <a:spcPts val="2000"/>
              </a:lnSpc>
              <a:buNone/>
            </a:pPr>
            <a:r>
              <a:rPr lang="en-US" sz="1600" dirty="0">
                <a:solidFill>
                  <a:srgbClr val="3C2A08"/>
                </a:solidFill>
                <a:latin typeface="Cambria" pitchFamily="34" charset="0"/>
                <a:ea typeface="Cambria" pitchFamily="34" charset="-122"/>
                <a:cs typeface="Cambria" pitchFamily="34" charset="-120"/>
              </a:rPr>
              <a:t>Fuzzy logic is not an older rival of machine learning — it is the part of AI that handles vagueness in human language and keeps decisions readable. Where data is scarce, rules are known, or an auditor must follow the reasoning, it still wins; everywhere else it now works as a layer inside a learning system.</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1CD980-2629-EBD2-1105-FDC5F33FD39B}"/>
              </a:ext>
            </a:extLst>
          </p:cNvPr>
          <p:cNvSpPr txBox="1"/>
          <p:nvPr/>
        </p:nvSpPr>
        <p:spPr>
          <a:xfrm>
            <a:off x="4404049" y="2547258"/>
            <a:ext cx="5542384" cy="1015663"/>
          </a:xfrm>
          <a:prstGeom prst="rect">
            <a:avLst/>
          </a:prstGeom>
          <a:noFill/>
        </p:spPr>
        <p:txBody>
          <a:bodyPr wrap="square" rtlCol="0">
            <a:spAutoFit/>
          </a:bodyPr>
          <a:lstStyle/>
          <a:p>
            <a:r>
              <a:rPr lang="en-IN" sz="6000" dirty="0">
                <a:solidFill>
                  <a:schemeClr val="accent1">
                    <a:lumMod val="75000"/>
                  </a:schemeClr>
                </a:solidFill>
              </a:rPr>
              <a:t>Thank You</a:t>
            </a:r>
          </a:p>
        </p:txBody>
      </p:sp>
    </p:spTree>
    <p:extLst>
      <p:ext uri="{BB962C8B-B14F-4D97-AF65-F5344CB8AC3E}">
        <p14:creationId xmlns:p14="http://schemas.microsoft.com/office/powerpoint/2010/main" val="97966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1860</Words>
  <Application>Microsoft Office PowerPoint</Application>
  <PresentationFormat>Widescreen</PresentationFormat>
  <Paragraphs>196</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Fuzzy Logic in Modern AI</dc:title>
  <dc:subject>PptxGenJS Presentation</dc:subject>
  <dc:creator>Class Presentation</dc:creator>
  <cp:lastModifiedBy>Sezal dhiman</cp:lastModifiedBy>
  <cp:revision>2</cp:revision>
  <dcterms:created xsi:type="dcterms:W3CDTF">2026-09-21T15:57:55Z</dcterms:created>
  <dcterms:modified xsi:type="dcterms:W3CDTF">2026-09-21T16:39:01Z</dcterms:modified>
</cp:coreProperties>
</file>