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0"/>
    </p:embeddedFont>
    <p:embeddedFont>
      <p:font typeface="Roboto Slab" pitchFamily="2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711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4.jpe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21138" y="54336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New Era of Prospecting: Mastering Social Selling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721137" y="1796543"/>
            <a:ext cx="4722763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Move beyond interruptions. Learn how to attract, engage, and convert modern buyers by using personal authority, targeted outreach, and consistent value-driven engagement.</a:t>
            </a:r>
            <a:endParaRPr lang="en-US" sz="14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2372A69-1A0A-7FF8-FB28-31E2C0C75A07}"/>
              </a:ext>
            </a:extLst>
          </p:cNvPr>
          <p:cNvSpPr/>
          <p:nvPr/>
        </p:nvSpPr>
        <p:spPr>
          <a:xfrm>
            <a:off x="3721136" y="3705373"/>
            <a:ext cx="4722763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Name-Sezal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UID- 24BAI70653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Section-24AML-3B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CBC5EA-71CA-7EE7-D2EE-2F0DE679494A}"/>
              </a:ext>
            </a:extLst>
          </p:cNvPr>
          <p:cNvSpPr txBox="1"/>
          <p:nvPr/>
        </p:nvSpPr>
        <p:spPr>
          <a:xfrm>
            <a:off x="7554351" y="3992429"/>
            <a:ext cx="1512277" cy="110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F7AC00-56F6-7522-E7C5-A0A124634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391" y="4049100"/>
            <a:ext cx="1120237" cy="10440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5957"/>
            <a:ext cx="4722763" cy="32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Death of the Cold Call</a:t>
            </a:r>
            <a:endParaRPr lang="en-US" sz="2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903387"/>
            <a:ext cx="2301106" cy="15465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97202" y="1001390"/>
            <a:ext cx="156790" cy="1960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070077" y="1426071"/>
            <a:ext cx="201118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cold calls fail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070077" y="1702445"/>
            <a:ext cx="2011189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90% of buyers ignore unsolicited calls — attention is scarce and distrust is high.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6701" y="903387"/>
            <a:ext cx="2301180" cy="154654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18859" y="1001390"/>
            <a:ext cx="156790" cy="1960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491660" y="1426071"/>
            <a:ext cx="201126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Social sellers win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6491660" y="1702445"/>
            <a:ext cx="201126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78% of reps using social platforms outperform peers — social proof and context matter.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570411"/>
            <a:ext cx="4722763" cy="134570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08068" y="2668414"/>
            <a:ext cx="156790" cy="1960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070077" y="3093095"/>
            <a:ext cx="443284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Buyers research first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070077" y="3369469"/>
            <a:ext cx="443284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57% of the buying journey happens before prospects contact sales — meet them earlier online.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3925119" y="4051622"/>
            <a:ext cx="4722763" cy="695920"/>
          </a:xfrm>
          <a:prstGeom prst="roundRect">
            <a:avLst>
              <a:gd name="adj" fmla="val 2817"/>
            </a:avLst>
          </a:prstGeom>
          <a:solidFill>
            <a:srgbClr val="D7DFF4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5790" y="4238699"/>
            <a:ext cx="163339" cy="13067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49800" y="4204767"/>
            <a:ext cx="416741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 effort from interruption to discovery: be present where buyers already research.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C4D5D62-F22F-67D4-8E8D-48CB968CF3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2804" y="4811150"/>
            <a:ext cx="1120237" cy="2585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06687"/>
            <a:ext cx="3053135" cy="17300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9892" y="1051545"/>
            <a:ext cx="475267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Power of the Human Brand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99892" y="1547664"/>
            <a:ext cx="475267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B2B the relationship is person-to-person. Individual credibility — expertise, consistency, and authenticity — often matters more than corporate marketing.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99892" y="2355652"/>
            <a:ext cx="4752677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 authority creates trust faster than logo recognition.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Prospects are 5x more likely to engage through a mutual connection.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content turns passive visitors into warm leads.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899892" y="3294683"/>
            <a:ext cx="4752677" cy="779562"/>
          </a:xfrm>
          <a:prstGeom prst="roundRect">
            <a:avLst>
              <a:gd name="adj" fmla="val 2728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51" y="3509739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0590" y="3457649"/>
            <a:ext cx="415022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Action: Audit your profile — headline, photo, and value-focused summary.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2C963B-187C-BB3B-B3B2-7ADB8B9A8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0692" y="4338709"/>
            <a:ext cx="1120237" cy="7795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81534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4 Pillars of Success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19411"/>
            <a:ext cx="552450" cy="6905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748" y="1719411"/>
            <a:ext cx="117537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Build an Expert Brand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25748" y="2247379"/>
            <a:ext cx="11753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 your profile, showcase case studies, and publish short insights that demonstrate domain knowledge.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719411"/>
            <a:ext cx="552450" cy="6905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07928" y="1719411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Find the Right People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07928" y="2247379"/>
            <a:ext cx="117544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advanced search, boolean queries, and saved lists to identify true decision-makers and influencers.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719411"/>
            <a:ext cx="552450" cy="6905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0183" y="1719411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Engage with Insights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390183" y="2247379"/>
            <a:ext cx="117544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 timely ideas, commentary on industry news, and practical tips — add context, not a sales pitch.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719411"/>
            <a:ext cx="552450" cy="6905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72437" y="1719411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Build Relationships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472437" y="2247379"/>
            <a:ext cx="117544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Follow up with personalized value, celebrate milestones, and convert conversations into advisory relationships.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4475F2B-3AB2-70A7-B71B-299EF12768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3763" y="4213274"/>
            <a:ext cx="1120237" cy="8926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47340"/>
            <a:ext cx="3478039" cy="19708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24796" y="779487"/>
            <a:ext cx="432777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Tools of the Trade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324796" y="1275606"/>
            <a:ext cx="43277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Blend platform power with process. The right tools make social selling scalable and measurable.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324796" y="1888703"/>
            <a:ext cx="4327773" cy="779562"/>
          </a:xfrm>
          <a:prstGeom prst="roundRect">
            <a:avLst>
              <a:gd name="adj" fmla="val 2728"/>
            </a:avLst>
          </a:prstGeom>
          <a:solidFill>
            <a:srgbClr val="D7DFF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555" y="2103760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85494" y="2051670"/>
            <a:ext cx="372531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Tip: Integrate alerts with your workflow to act within 24 hours of a trigger event.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37136"/>
            <a:ext cx="354360" cy="35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6119" y="356867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LinkedIn Sales Navigator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96119" y="3875187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Precision prospecting: account lists, lead recommendations, and real-time updates.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2433" y="3037136"/>
            <a:ext cx="354360" cy="3543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272433" y="356867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Social Listening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3272433" y="3875187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hashtags, industry news, and trigger events to engage at the right moment.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48747" y="3037136"/>
            <a:ext cx="354360" cy="3543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048747" y="356867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CRM Integration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6048747" y="3875187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 social interactions, score engagement, and convert signals into actions inside your CRM.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0936F2-AE17-4391-D5D8-CC463D2E39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0692" y="4473526"/>
            <a:ext cx="1120237" cy="6041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7165"/>
            <a:ext cx="4722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Path Forward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925119" y="823838"/>
            <a:ext cx="472276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 from seller to trusted advisor: answer problems, not product questions. Prioritize depth of relationship and consistent micro-engagements.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3925119" y="1236687"/>
            <a:ext cx="442987" cy="761851"/>
          </a:xfrm>
          <a:prstGeom prst="roundRect">
            <a:avLst>
              <a:gd name="adj" fmla="val 360030"/>
            </a:avLst>
          </a:prstGeom>
          <a:solidFill>
            <a:srgbClr val="E9ECF2"/>
          </a:solidFill>
          <a:ln/>
        </p:spPr>
      </p:sp>
      <p:sp>
        <p:nvSpPr>
          <p:cNvPr id="6" name="Text 3"/>
          <p:cNvSpPr/>
          <p:nvPr/>
        </p:nvSpPr>
        <p:spPr>
          <a:xfrm>
            <a:off x="4063529" y="1513805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454575" y="1347415"/>
            <a:ext cx="419330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Show Up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54575" y="1572295"/>
            <a:ext cx="419330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 present where prospects research — post, comment, and share useful ideas weekly.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925119" y="2085008"/>
            <a:ext cx="442987" cy="664518"/>
          </a:xfrm>
          <a:prstGeom prst="roundRect">
            <a:avLst>
              <a:gd name="adj" fmla="val 360030"/>
            </a:avLst>
          </a:prstGeom>
          <a:solidFill>
            <a:srgbClr val="E9ECF2"/>
          </a:solidFill>
          <a:ln/>
        </p:spPr>
      </p:sp>
      <p:sp>
        <p:nvSpPr>
          <p:cNvPr id="10" name="Text 7"/>
          <p:cNvSpPr/>
          <p:nvPr/>
        </p:nvSpPr>
        <p:spPr>
          <a:xfrm>
            <a:off x="4063529" y="2313459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54575" y="2195736"/>
            <a:ext cx="419330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Add Value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54575" y="2420615"/>
            <a:ext cx="419330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 insights, templates, or quick audits that solve immediate pain points.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25119" y="2835994"/>
            <a:ext cx="442987" cy="664518"/>
          </a:xfrm>
          <a:prstGeom prst="roundRect">
            <a:avLst>
              <a:gd name="adj" fmla="val 360030"/>
            </a:avLst>
          </a:prstGeom>
          <a:solidFill>
            <a:srgbClr val="E9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4063529" y="3064446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54575" y="2946722"/>
            <a:ext cx="419330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Measure What Matters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454575" y="3171602"/>
            <a:ext cx="419330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engagement quality (conversations, introductions) over vanity metrics.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925119" y="3586981"/>
            <a:ext cx="442987" cy="664518"/>
          </a:xfrm>
          <a:prstGeom prst="roundRect">
            <a:avLst>
              <a:gd name="adj" fmla="val 360030"/>
            </a:avLst>
          </a:prstGeom>
          <a:solidFill>
            <a:srgbClr val="E9ECF2"/>
          </a:solidFill>
          <a:ln/>
        </p:spPr>
      </p:sp>
      <p:sp>
        <p:nvSpPr>
          <p:cNvPr id="18" name="Text 15"/>
          <p:cNvSpPr/>
          <p:nvPr/>
        </p:nvSpPr>
        <p:spPr>
          <a:xfrm>
            <a:off x="4063529" y="3815432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454575" y="3697709"/>
            <a:ext cx="419330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Repeat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454575" y="3922588"/>
            <a:ext cx="419330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selling compounds: consistent effort builds reputation and fills the pipeline.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925119" y="4348832"/>
            <a:ext cx="4722763" cy="377428"/>
          </a:xfrm>
          <a:prstGeom prst="roundRect">
            <a:avLst>
              <a:gd name="adj" fmla="val 4402"/>
            </a:avLst>
          </a:prstGeom>
          <a:solidFill>
            <a:srgbClr val="B6FCB8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5847" y="4495130"/>
            <a:ext cx="138410" cy="11072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284985" y="4462983"/>
            <a:ext cx="4709368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Ready to start? Pick one pillar this week and create a 30-day plan around it.</a:t>
            </a:r>
            <a:endParaRPr lang="en-US" sz="8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2A7C790-A790-150A-2B2E-306F7D0F6B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715" y="4840411"/>
            <a:ext cx="1120237" cy="2320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40CFB0-FF8E-4FA0-C846-D3987370DCE6}"/>
              </a:ext>
            </a:extLst>
          </p:cNvPr>
          <p:cNvSpPr txBox="1"/>
          <p:nvPr/>
        </p:nvSpPr>
        <p:spPr>
          <a:xfrm>
            <a:off x="2729131" y="2012504"/>
            <a:ext cx="44102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70C0"/>
                </a:solidFill>
              </a:rPr>
              <a:t>THANK YOU</a:t>
            </a:r>
            <a:endParaRPr lang="en-IN" sz="6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849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493</Words>
  <Application>Microsoft Office PowerPoint</Application>
  <PresentationFormat>On-screen Show (16:9)</PresentationFormat>
  <Paragraphs>63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Roboto</vt:lpstr>
      <vt:lpstr>Roboto Slab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Sezal dhiman</cp:lastModifiedBy>
  <cp:revision>2</cp:revision>
  <dcterms:created xsi:type="dcterms:W3CDTF">2026-07-23T09:24:39Z</dcterms:created>
  <dcterms:modified xsi:type="dcterms:W3CDTF">2026-07-23T09:33:36Z</dcterms:modified>
</cp:coreProperties>
</file>